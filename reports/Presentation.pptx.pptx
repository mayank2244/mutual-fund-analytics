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Calibri (MS) Bold" charset="1" panose="020F0702030404030204"/>
      <p:regular r:id="rId20"/>
    </p:embeddedFont>
    <p:embeddedFont>
      <p:font typeface="Calibri (MS)" charset="1" panose="020F0502020204030204"/>
      <p:regular r:id="rId21"/>
    </p:embeddedFont>
    <p:embeddedFont>
      <p:font typeface="Calibri (MS) Italics" charset="1" panose="020F05020202040A0204"/>
      <p:regular r:id="rId22"/>
    </p:embeddedFont>
    <p:embeddedFont>
      <p:font typeface="Courier New" charset="1" panose="02070309020205020404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notesMasters/notesMaster1.xml" Type="http://schemas.openxmlformats.org/officeDocument/2006/relationships/notesMaster"/><Relationship Id="rId18" Target="theme/theme2.xml" Type="http://schemas.openxmlformats.org/officeDocument/2006/relationships/theme"/><Relationship Id="rId19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notesSlides/notesSlide2.xml" Type="http://schemas.openxmlformats.org/officeDocument/2006/relationships/notesSlide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27" Target="fonts/font27.fntdata" Type="http://schemas.openxmlformats.org/officeDocument/2006/relationships/font"/><Relationship Id="rId28" Target="notesSlides/notesSlide6.xml" Type="http://schemas.openxmlformats.org/officeDocument/2006/relationships/notesSlide"/><Relationship Id="rId29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8.xml" Type="http://schemas.openxmlformats.org/officeDocument/2006/relationships/notesSlide"/><Relationship Id="rId31" Target="notesSlides/notesSlide9.xml" Type="http://schemas.openxmlformats.org/officeDocument/2006/relationships/notesSlide"/><Relationship Id="rId32" Target="notesSlides/notesSlide10.xml" Type="http://schemas.openxmlformats.org/officeDocument/2006/relationships/notesSlide"/><Relationship Id="rId33" Target="notesSlides/notesSlide11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3B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46304" cy="10287000"/>
            <a:chOff x="0" y="0"/>
            <a:chExt cx="195072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507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2A5F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1280160"/>
            <a:ext cx="16824960" cy="1280160"/>
            <a:chOff x="0" y="0"/>
            <a:chExt cx="22433280" cy="17068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4332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089" r="0" b="-206089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61925"/>
              <a:ext cx="22433280" cy="1868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080"/>
                </a:lnSpc>
              </a:pPr>
              <a:r>
                <a:rPr lang="en-US" b="true" sz="8400" spc="1600">
                  <a:solidFill>
                    <a:srgbClr val="42A5F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BLUESTOCK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31520" y="2651760"/>
            <a:ext cx="16824960" cy="1188720"/>
            <a:chOff x="0" y="0"/>
            <a:chExt cx="22433280" cy="15849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4332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788" r="0" b="-22578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23825"/>
              <a:ext cx="22433280" cy="1708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6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Mutual Fund Analytics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31520" y="4023360"/>
            <a:ext cx="10972800" cy="73152"/>
            <a:chOff x="0" y="0"/>
            <a:chExt cx="14630400" cy="9753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630400" cy="97536"/>
            </a:xfrm>
            <a:custGeom>
              <a:avLst/>
              <a:gdLst/>
              <a:ahLst/>
              <a:cxnLst/>
              <a:rect r="r" b="b" t="t" l="l"/>
              <a:pathLst>
                <a:path h="97536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42A5F5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31520" y="4389120"/>
            <a:ext cx="16459200" cy="822960"/>
            <a:chOff x="0" y="0"/>
            <a:chExt cx="21945600" cy="10972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2194560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i="true">
                  <a:solidFill>
                    <a:srgbClr val="DCE9F7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End-to-End Data Analytics Internship Project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12470" y="5650230"/>
            <a:ext cx="3147060" cy="1775460"/>
            <a:chOff x="0" y="0"/>
            <a:chExt cx="4196080" cy="23672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196080" cy="2367280"/>
            </a:xfrm>
            <a:custGeom>
              <a:avLst/>
              <a:gdLst/>
              <a:ahLst/>
              <a:cxnLst/>
              <a:rect r="r" b="b" t="t" l="l"/>
              <a:pathLst>
                <a:path h="2367280" w="4196080">
                  <a:moveTo>
                    <a:pt x="0" y="0"/>
                  </a:moveTo>
                  <a:lnTo>
                    <a:pt x="4196080" y="0"/>
                  </a:lnTo>
                  <a:lnTo>
                    <a:pt x="4196080" y="2367280"/>
                  </a:lnTo>
                  <a:lnTo>
                    <a:pt x="0" y="2367280"/>
                  </a:lnTo>
                  <a:close/>
                </a:path>
              </a:pathLst>
            </a:custGeom>
            <a:solidFill>
              <a:srgbClr val="1565C0"/>
            </a:solidFill>
            <a:ln w="38100" cap="sq">
              <a:solidFill>
                <a:srgbClr val="42A5F5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731520" y="5760720"/>
            <a:ext cx="3108960" cy="914400"/>
            <a:chOff x="0" y="0"/>
            <a:chExt cx="4145280" cy="1219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145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49" r="0" b="-16249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76200"/>
              <a:ext cx="414528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40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31520" y="6675120"/>
            <a:ext cx="3108960" cy="640080"/>
            <a:chOff x="0" y="0"/>
            <a:chExt cx="4145280" cy="853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145280" cy="853440"/>
            </a:xfrm>
            <a:custGeom>
              <a:avLst/>
              <a:gdLst/>
              <a:ahLst/>
              <a:cxnLst/>
              <a:rect r="r" b="b" t="t" l="l"/>
              <a:pathLst>
                <a:path h="85344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641" r="0" b="-4464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41452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DCE9F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Schemes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150614" y="5650230"/>
            <a:ext cx="3147060" cy="1775460"/>
            <a:chOff x="0" y="0"/>
            <a:chExt cx="4196080" cy="23672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196080" cy="2367280"/>
            </a:xfrm>
            <a:custGeom>
              <a:avLst/>
              <a:gdLst/>
              <a:ahLst/>
              <a:cxnLst/>
              <a:rect r="r" b="b" t="t" l="l"/>
              <a:pathLst>
                <a:path h="2367280" w="4196080">
                  <a:moveTo>
                    <a:pt x="0" y="0"/>
                  </a:moveTo>
                  <a:lnTo>
                    <a:pt x="4196080" y="0"/>
                  </a:lnTo>
                  <a:lnTo>
                    <a:pt x="4196080" y="2367280"/>
                  </a:lnTo>
                  <a:lnTo>
                    <a:pt x="0" y="2367280"/>
                  </a:lnTo>
                  <a:close/>
                </a:path>
              </a:pathLst>
            </a:custGeom>
            <a:solidFill>
              <a:srgbClr val="1565C0"/>
            </a:solidFill>
            <a:ln w="38100" cap="sq">
              <a:solidFill>
                <a:srgbClr val="42A5F5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4169664" y="5760720"/>
            <a:ext cx="3108960" cy="914400"/>
            <a:chOff x="0" y="0"/>
            <a:chExt cx="4145280" cy="12192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145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49" r="0" b="-16249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76200"/>
              <a:ext cx="414528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4169664" y="6675120"/>
            <a:ext cx="3108960" cy="640080"/>
            <a:chOff x="0" y="0"/>
            <a:chExt cx="4145280" cy="8534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145280" cy="853440"/>
            </a:xfrm>
            <a:custGeom>
              <a:avLst/>
              <a:gdLst/>
              <a:ahLst/>
              <a:cxnLst/>
              <a:rect r="r" b="b" t="t" l="l"/>
              <a:pathLst>
                <a:path h="85344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641" r="0" b="-44641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41452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DCE9F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AMCs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7588758" y="5650230"/>
            <a:ext cx="3147060" cy="1775460"/>
            <a:chOff x="0" y="0"/>
            <a:chExt cx="4196080" cy="23672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196080" cy="2367280"/>
            </a:xfrm>
            <a:custGeom>
              <a:avLst/>
              <a:gdLst/>
              <a:ahLst/>
              <a:cxnLst/>
              <a:rect r="r" b="b" t="t" l="l"/>
              <a:pathLst>
                <a:path h="2367280" w="4196080">
                  <a:moveTo>
                    <a:pt x="0" y="0"/>
                  </a:moveTo>
                  <a:lnTo>
                    <a:pt x="4196080" y="0"/>
                  </a:lnTo>
                  <a:lnTo>
                    <a:pt x="4196080" y="2367280"/>
                  </a:lnTo>
                  <a:lnTo>
                    <a:pt x="0" y="2367280"/>
                  </a:lnTo>
                  <a:close/>
                </a:path>
              </a:pathLst>
            </a:custGeom>
            <a:solidFill>
              <a:srgbClr val="1565C0"/>
            </a:solidFill>
            <a:ln w="38100" cap="sq">
              <a:solidFill>
                <a:srgbClr val="42A5F5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7607808" y="5760720"/>
            <a:ext cx="3108960" cy="914400"/>
            <a:chOff x="0" y="0"/>
            <a:chExt cx="4145280" cy="12192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145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49" r="0" b="-16249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76200"/>
              <a:ext cx="414528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46K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7607808" y="6675120"/>
            <a:ext cx="3108960" cy="640080"/>
            <a:chOff x="0" y="0"/>
            <a:chExt cx="4145280" cy="8534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145280" cy="853440"/>
            </a:xfrm>
            <a:custGeom>
              <a:avLst/>
              <a:gdLst/>
              <a:ahLst/>
              <a:cxnLst/>
              <a:rect r="r" b="b" t="t" l="l"/>
              <a:pathLst>
                <a:path h="85344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641" r="0" b="-44641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41452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DCE9F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NAV Records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1026902" y="5650230"/>
            <a:ext cx="3147060" cy="1775460"/>
            <a:chOff x="0" y="0"/>
            <a:chExt cx="4196080" cy="23672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196080" cy="2367280"/>
            </a:xfrm>
            <a:custGeom>
              <a:avLst/>
              <a:gdLst/>
              <a:ahLst/>
              <a:cxnLst/>
              <a:rect r="r" b="b" t="t" l="l"/>
              <a:pathLst>
                <a:path h="2367280" w="4196080">
                  <a:moveTo>
                    <a:pt x="0" y="0"/>
                  </a:moveTo>
                  <a:lnTo>
                    <a:pt x="4196080" y="0"/>
                  </a:lnTo>
                  <a:lnTo>
                    <a:pt x="4196080" y="2367280"/>
                  </a:lnTo>
                  <a:lnTo>
                    <a:pt x="0" y="2367280"/>
                  </a:lnTo>
                  <a:close/>
                </a:path>
              </a:pathLst>
            </a:custGeom>
            <a:solidFill>
              <a:srgbClr val="1565C0"/>
            </a:solidFill>
            <a:ln w="38100" cap="sq">
              <a:solidFill>
                <a:srgbClr val="42A5F5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1045952" y="5760720"/>
            <a:ext cx="3108960" cy="914400"/>
            <a:chOff x="0" y="0"/>
            <a:chExt cx="4145280" cy="12192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145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49" r="0" b="-16249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76200"/>
              <a:ext cx="414528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32K+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1045952" y="6675120"/>
            <a:ext cx="3108960" cy="640080"/>
            <a:chOff x="0" y="0"/>
            <a:chExt cx="4145280" cy="8534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145280" cy="853440"/>
            </a:xfrm>
            <a:custGeom>
              <a:avLst/>
              <a:gdLst/>
              <a:ahLst/>
              <a:cxnLst/>
              <a:rect r="r" b="b" t="t" l="l"/>
              <a:pathLst>
                <a:path h="85344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641" r="0" b="-44641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41452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DCE9F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Transactions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4465046" y="5650230"/>
            <a:ext cx="3147060" cy="1775460"/>
            <a:chOff x="0" y="0"/>
            <a:chExt cx="4196080" cy="23672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196080" cy="2367280"/>
            </a:xfrm>
            <a:custGeom>
              <a:avLst/>
              <a:gdLst/>
              <a:ahLst/>
              <a:cxnLst/>
              <a:rect r="r" b="b" t="t" l="l"/>
              <a:pathLst>
                <a:path h="2367280" w="4196080">
                  <a:moveTo>
                    <a:pt x="0" y="0"/>
                  </a:moveTo>
                  <a:lnTo>
                    <a:pt x="4196080" y="0"/>
                  </a:lnTo>
                  <a:lnTo>
                    <a:pt x="4196080" y="2367280"/>
                  </a:lnTo>
                  <a:lnTo>
                    <a:pt x="0" y="2367280"/>
                  </a:lnTo>
                  <a:close/>
                </a:path>
              </a:pathLst>
            </a:custGeom>
            <a:solidFill>
              <a:srgbClr val="1565C0"/>
            </a:solidFill>
            <a:ln w="38100" cap="sq">
              <a:solidFill>
                <a:srgbClr val="42A5F5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14484096" y="5760720"/>
            <a:ext cx="3108960" cy="914400"/>
            <a:chOff x="0" y="0"/>
            <a:chExt cx="4145280" cy="12192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145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49" r="0" b="-16249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76200"/>
              <a:ext cx="414528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4.4 Yrs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4484096" y="6675120"/>
            <a:ext cx="3108960" cy="640080"/>
            <a:chOff x="0" y="0"/>
            <a:chExt cx="4145280" cy="8534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145280" cy="853440"/>
            </a:xfrm>
            <a:custGeom>
              <a:avLst/>
              <a:gdLst/>
              <a:ahLst/>
              <a:cxnLst/>
              <a:rect r="r" b="b" t="t" l="l"/>
              <a:pathLst>
                <a:path h="85344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641" r="0" b="-44641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41452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DCE9F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Range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731520" y="8961120"/>
            <a:ext cx="16824960" cy="640080"/>
            <a:chOff x="0" y="0"/>
            <a:chExt cx="22433280" cy="8534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2433280" cy="853440"/>
            </a:xfrm>
            <a:custGeom>
              <a:avLst/>
              <a:gdLst/>
              <a:ahLst/>
              <a:cxnLst/>
              <a:rect r="r" b="b" t="t" l="l"/>
              <a:pathLst>
                <a:path h="85344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2178" r="0" b="-462178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2243328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A9C3D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Mayank| BML Munjal University 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645920"/>
            <a:chOff x="0" y="0"/>
            <a:chExt cx="24384000" cy="21945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182880"/>
            <a:ext cx="16824960" cy="1280160"/>
            <a:chOff x="0" y="0"/>
            <a:chExt cx="22433280" cy="17068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4332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089" r="0" b="-206089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04775"/>
              <a:ext cx="22433280" cy="1811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Project Overview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35943" y="1907543"/>
            <a:ext cx="8437883" cy="2402843"/>
            <a:chOff x="0" y="0"/>
            <a:chExt cx="11250511" cy="320379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250549" cy="3203829"/>
            </a:xfrm>
            <a:custGeom>
              <a:avLst/>
              <a:gdLst/>
              <a:ahLst/>
              <a:cxnLst/>
              <a:rect r="r" b="b" t="t" l="l"/>
              <a:pathLst>
                <a:path h="3203829" w="11250549">
                  <a:moveTo>
                    <a:pt x="0" y="0"/>
                  </a:moveTo>
                  <a:lnTo>
                    <a:pt x="11250549" y="0"/>
                  </a:lnTo>
                  <a:lnTo>
                    <a:pt x="11250549" y="3203829"/>
                  </a:lnTo>
                  <a:lnTo>
                    <a:pt x="0" y="3203829"/>
                  </a:lnTo>
                  <a:close/>
                </a:path>
              </a:pathLst>
            </a:custGeom>
            <a:solidFill>
              <a:srgbClr val="EAF3FC"/>
            </a:solidFill>
            <a:ln w="25400" cap="sq">
              <a:solidFill>
                <a:srgbClr val="0D3B66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822960" y="2103120"/>
            <a:ext cx="7863840" cy="640080"/>
            <a:chOff x="0" y="0"/>
            <a:chExt cx="10485120" cy="8534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485120" cy="853440"/>
            </a:xfrm>
            <a:custGeom>
              <a:avLst/>
              <a:gdLst/>
              <a:ahLst/>
              <a:cxnLst/>
              <a:rect r="r" b="b" t="t" l="l"/>
              <a:pathLst>
                <a:path h="85344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387" r="0" b="-189387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048512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D3B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📊  Data Ingestion &amp; ETL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22960" y="2743200"/>
            <a:ext cx="7863840" cy="1371600"/>
            <a:chOff x="0" y="0"/>
            <a:chExt cx="10485120" cy="1828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4851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714" r="0" b="-6171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0485120" cy="1876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Automated pipeline loading 10 datasets, live NAV fetch from mfapi.in, data validation and quality checks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405623" y="1907543"/>
            <a:ext cx="8437883" cy="2402843"/>
            <a:chOff x="0" y="0"/>
            <a:chExt cx="11250511" cy="320379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250549" cy="3203829"/>
            </a:xfrm>
            <a:custGeom>
              <a:avLst/>
              <a:gdLst/>
              <a:ahLst/>
              <a:cxnLst/>
              <a:rect r="r" b="b" t="t" l="l"/>
              <a:pathLst>
                <a:path h="3203829" w="11250549">
                  <a:moveTo>
                    <a:pt x="0" y="0"/>
                  </a:moveTo>
                  <a:lnTo>
                    <a:pt x="11250549" y="0"/>
                  </a:lnTo>
                  <a:lnTo>
                    <a:pt x="11250549" y="3203829"/>
                  </a:lnTo>
                  <a:lnTo>
                    <a:pt x="0" y="3203829"/>
                  </a:lnTo>
                  <a:close/>
                </a:path>
              </a:pathLst>
            </a:custGeom>
            <a:solidFill>
              <a:srgbClr val="EAF3FC"/>
            </a:solidFill>
            <a:ln w="25400" cap="sq">
              <a:solidFill>
                <a:srgbClr val="1565C0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9692640" y="2103120"/>
            <a:ext cx="7863840" cy="640080"/>
            <a:chOff x="0" y="0"/>
            <a:chExt cx="10485120" cy="8534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485120" cy="853440"/>
            </a:xfrm>
            <a:custGeom>
              <a:avLst/>
              <a:gdLst/>
              <a:ahLst/>
              <a:cxnLst/>
              <a:rect r="r" b="b" t="t" l="l"/>
              <a:pathLst>
                <a:path h="85344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387" r="0" b="-18938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1048512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565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🗄️  SQLite Star Schema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692640" y="2743200"/>
            <a:ext cx="7863840" cy="1371600"/>
            <a:chOff x="0" y="0"/>
            <a:chExt cx="10485120" cy="1828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4851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714" r="0" b="-6171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0485120" cy="1876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Designed and implemented relational database with dim_fund, dim_date and 6 fact tables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35943" y="4559303"/>
            <a:ext cx="8437883" cy="2402843"/>
            <a:chOff x="0" y="0"/>
            <a:chExt cx="11250511" cy="320379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250549" cy="3203829"/>
            </a:xfrm>
            <a:custGeom>
              <a:avLst/>
              <a:gdLst/>
              <a:ahLst/>
              <a:cxnLst/>
              <a:rect r="r" b="b" t="t" l="l"/>
              <a:pathLst>
                <a:path h="3203829" w="11250549">
                  <a:moveTo>
                    <a:pt x="0" y="0"/>
                  </a:moveTo>
                  <a:lnTo>
                    <a:pt x="11250549" y="0"/>
                  </a:lnTo>
                  <a:lnTo>
                    <a:pt x="11250549" y="3203829"/>
                  </a:lnTo>
                  <a:lnTo>
                    <a:pt x="0" y="3203829"/>
                  </a:lnTo>
                  <a:close/>
                </a:path>
              </a:pathLst>
            </a:custGeom>
            <a:solidFill>
              <a:srgbClr val="EAF3FC"/>
            </a:solidFill>
            <a:ln w="25400" cap="sq">
              <a:solidFill>
                <a:srgbClr val="0D47A1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822960" y="4754880"/>
            <a:ext cx="7863840" cy="640080"/>
            <a:chOff x="0" y="0"/>
            <a:chExt cx="10485120" cy="8534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485120" cy="853440"/>
            </a:xfrm>
            <a:custGeom>
              <a:avLst/>
              <a:gdLst/>
              <a:ahLst/>
              <a:cxnLst/>
              <a:rect r="r" b="b" t="t" l="l"/>
              <a:pathLst>
                <a:path h="85344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387" r="0" b="-189387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1048512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D47A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📈  Exploratory Data Analysis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822960" y="5394960"/>
            <a:ext cx="7863840" cy="1371600"/>
            <a:chOff x="0" y="0"/>
            <a:chExt cx="10485120" cy="1828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4851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714" r="0" b="-61714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10485120" cy="1876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15+ charts covering NAV trends, AUM growth, SIP inflows, demographics and geographic distribution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405623" y="4559303"/>
            <a:ext cx="8437883" cy="2402843"/>
            <a:chOff x="0" y="0"/>
            <a:chExt cx="11250511" cy="320379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250549" cy="3203829"/>
            </a:xfrm>
            <a:custGeom>
              <a:avLst/>
              <a:gdLst/>
              <a:ahLst/>
              <a:cxnLst/>
              <a:rect r="r" b="b" t="t" l="l"/>
              <a:pathLst>
                <a:path h="3203829" w="11250549">
                  <a:moveTo>
                    <a:pt x="0" y="0"/>
                  </a:moveTo>
                  <a:lnTo>
                    <a:pt x="11250549" y="0"/>
                  </a:lnTo>
                  <a:lnTo>
                    <a:pt x="11250549" y="3203829"/>
                  </a:lnTo>
                  <a:lnTo>
                    <a:pt x="0" y="3203829"/>
                  </a:lnTo>
                  <a:close/>
                </a:path>
              </a:pathLst>
            </a:custGeom>
            <a:solidFill>
              <a:srgbClr val="EAF3FC"/>
            </a:solidFill>
            <a:ln w="25400" cap="sq">
              <a:solidFill>
                <a:srgbClr val="1976D2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9692640" y="4754880"/>
            <a:ext cx="7863840" cy="640080"/>
            <a:chOff x="0" y="0"/>
            <a:chExt cx="10485120" cy="8534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485120" cy="853440"/>
            </a:xfrm>
            <a:custGeom>
              <a:avLst/>
              <a:gdLst/>
              <a:ahLst/>
              <a:cxnLst/>
              <a:rect r="r" b="b" t="t" l="l"/>
              <a:pathLst>
                <a:path h="85344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387" r="0" b="-189387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57150"/>
              <a:ext cx="1048512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976D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⚡  Performance Analytics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692640" y="5394960"/>
            <a:ext cx="7863840" cy="1371600"/>
            <a:chOff x="0" y="0"/>
            <a:chExt cx="10485120" cy="1828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4851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714" r="0" b="-61714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10485120" cy="1876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Computed Sharpe, Sortino, Alpha, Beta, VaR, CVaR, CAGR and composite fund scorecard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535943" y="7211063"/>
            <a:ext cx="8437883" cy="2402843"/>
            <a:chOff x="0" y="0"/>
            <a:chExt cx="11250511" cy="320379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1250549" cy="3203829"/>
            </a:xfrm>
            <a:custGeom>
              <a:avLst/>
              <a:gdLst/>
              <a:ahLst/>
              <a:cxnLst/>
              <a:rect r="r" b="b" t="t" l="l"/>
              <a:pathLst>
                <a:path h="3203829" w="11250549">
                  <a:moveTo>
                    <a:pt x="0" y="0"/>
                  </a:moveTo>
                  <a:lnTo>
                    <a:pt x="11250549" y="0"/>
                  </a:lnTo>
                  <a:lnTo>
                    <a:pt x="11250549" y="3203829"/>
                  </a:lnTo>
                  <a:lnTo>
                    <a:pt x="0" y="3203829"/>
                  </a:lnTo>
                  <a:close/>
                </a:path>
              </a:pathLst>
            </a:custGeom>
            <a:solidFill>
              <a:srgbClr val="EAF3FC"/>
            </a:solidFill>
            <a:ln w="25400" cap="sq">
              <a:solidFill>
                <a:srgbClr val="283593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822960" y="7406640"/>
            <a:ext cx="7863840" cy="640080"/>
            <a:chOff x="0" y="0"/>
            <a:chExt cx="10485120" cy="8534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485120" cy="853440"/>
            </a:xfrm>
            <a:custGeom>
              <a:avLst/>
              <a:gdLst/>
              <a:ahLst/>
              <a:cxnLst/>
              <a:rect r="r" b="b" t="t" l="l"/>
              <a:pathLst>
                <a:path h="85344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387" r="0" b="-189387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57150"/>
              <a:ext cx="1048512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2835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📉  Advanced Analytics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822960" y="8046720"/>
            <a:ext cx="7863840" cy="1371600"/>
            <a:chOff x="0" y="0"/>
            <a:chExt cx="10485120" cy="1828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4851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714" r="0" b="-61714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10485120" cy="1876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Rolling Sharpe, investor cohorts, SIP continuity, fund recommender and sector HHI concentration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405623" y="7211063"/>
            <a:ext cx="8437883" cy="2402843"/>
            <a:chOff x="0" y="0"/>
            <a:chExt cx="11250511" cy="320379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1250549" cy="3203829"/>
            </a:xfrm>
            <a:custGeom>
              <a:avLst/>
              <a:gdLst/>
              <a:ahLst/>
              <a:cxnLst/>
              <a:rect r="r" b="b" t="t" l="l"/>
              <a:pathLst>
                <a:path h="3203829" w="11250549">
                  <a:moveTo>
                    <a:pt x="0" y="0"/>
                  </a:moveTo>
                  <a:lnTo>
                    <a:pt x="11250549" y="0"/>
                  </a:lnTo>
                  <a:lnTo>
                    <a:pt x="11250549" y="3203829"/>
                  </a:lnTo>
                  <a:lnTo>
                    <a:pt x="0" y="3203829"/>
                  </a:lnTo>
                  <a:close/>
                </a:path>
              </a:pathLst>
            </a:custGeom>
            <a:solidFill>
              <a:srgbClr val="EAF3FC"/>
            </a:solidFill>
            <a:ln w="25400" cap="sq">
              <a:solidFill>
                <a:srgbClr val="2962FF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9692640" y="7406640"/>
            <a:ext cx="7863840" cy="640080"/>
            <a:chOff x="0" y="0"/>
            <a:chExt cx="10485120" cy="8534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485120" cy="853440"/>
            </a:xfrm>
            <a:custGeom>
              <a:avLst/>
              <a:gdLst/>
              <a:ahLst/>
              <a:cxnLst/>
              <a:rect r="r" b="b" t="t" l="l"/>
              <a:pathLst>
                <a:path h="85344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387" r="0" b="-189387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57150"/>
              <a:ext cx="1048512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2962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🖥️  Power BI Dashboard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692640" y="8046720"/>
            <a:ext cx="7863840" cy="1371600"/>
            <a:chOff x="0" y="0"/>
            <a:chExt cx="10485120" cy="18288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4851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714" r="0" b="-61714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10485120" cy="1876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4-page interactive dashboard with slicers, drill-through, KPI cards and benchmark comparisons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645920"/>
            <a:chOff x="0" y="0"/>
            <a:chExt cx="24384000" cy="21945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0D3B6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182880"/>
            <a:ext cx="16824960" cy="1280160"/>
            <a:chOff x="0" y="0"/>
            <a:chExt cx="22433280" cy="17068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4332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089" r="0" b="-206089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04775"/>
              <a:ext cx="22433280" cy="1811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Architecture &amp; Pipeline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50847" y="2005327"/>
            <a:ext cx="2573017" cy="2024377"/>
            <a:chOff x="0" y="0"/>
            <a:chExt cx="3430689" cy="269916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430651" cy="2699131"/>
            </a:xfrm>
            <a:custGeom>
              <a:avLst/>
              <a:gdLst/>
              <a:ahLst/>
              <a:cxnLst/>
              <a:rect r="r" b="b" t="t" l="l"/>
              <a:pathLst>
                <a:path h="2699131" w="3430651">
                  <a:moveTo>
                    <a:pt x="0" y="0"/>
                  </a:moveTo>
                  <a:lnTo>
                    <a:pt x="3430651" y="0"/>
                  </a:lnTo>
                  <a:lnTo>
                    <a:pt x="3430651" y="2699131"/>
                  </a:lnTo>
                  <a:lnTo>
                    <a:pt x="0" y="2699131"/>
                  </a:lnTo>
                  <a:close/>
                </a:path>
              </a:pathLst>
            </a:custGeom>
            <a:solidFill>
              <a:srgbClr val="0D3B66"/>
            </a:solidFill>
            <a:ln w="127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457200" y="2103120"/>
            <a:ext cx="2560320" cy="1097280"/>
            <a:chOff x="0" y="0"/>
            <a:chExt cx="3413760" cy="14630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4137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341376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Raw Data</a:t>
              </a:r>
            </a:p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Sources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57200" y="3200400"/>
            <a:ext cx="2560320" cy="731520"/>
            <a:chOff x="0" y="0"/>
            <a:chExt cx="3413760" cy="9753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413760" cy="975360"/>
            </a:xfrm>
            <a:custGeom>
              <a:avLst/>
              <a:gdLst/>
              <a:ahLst/>
              <a:cxnLst/>
              <a:rect r="r" b="b" t="t" l="l"/>
              <a:pathLst>
                <a:path h="97536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34137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 CSVs</a:t>
              </a:r>
            </a:p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mfapi.in API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054096" y="2651760"/>
            <a:ext cx="365760" cy="731520"/>
            <a:chOff x="0" y="0"/>
            <a:chExt cx="487680" cy="9753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87680" cy="975360"/>
            </a:xfrm>
            <a:custGeom>
              <a:avLst/>
              <a:gdLst/>
              <a:ahLst/>
              <a:cxnLst/>
              <a:rect r="r" b="b" t="t" l="l"/>
              <a:pathLst>
                <a:path h="975360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6607" t="0" r="-206607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48768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D3B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3376927" y="2005327"/>
            <a:ext cx="2573017" cy="2024377"/>
            <a:chOff x="0" y="0"/>
            <a:chExt cx="3430689" cy="269916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430651" cy="2699131"/>
            </a:xfrm>
            <a:custGeom>
              <a:avLst/>
              <a:gdLst/>
              <a:ahLst/>
              <a:cxnLst/>
              <a:rect r="r" b="b" t="t" l="l"/>
              <a:pathLst>
                <a:path h="2699131" w="3430651">
                  <a:moveTo>
                    <a:pt x="0" y="0"/>
                  </a:moveTo>
                  <a:lnTo>
                    <a:pt x="3430651" y="0"/>
                  </a:lnTo>
                  <a:lnTo>
                    <a:pt x="3430651" y="2699131"/>
                  </a:lnTo>
                  <a:lnTo>
                    <a:pt x="0" y="2699131"/>
                  </a:lnTo>
                  <a:close/>
                </a:path>
              </a:pathLst>
            </a:custGeom>
            <a:solidFill>
              <a:srgbClr val="1565C0"/>
            </a:solidFill>
            <a:ln w="127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3383280" y="2103120"/>
            <a:ext cx="2560320" cy="1097280"/>
            <a:chOff x="0" y="0"/>
            <a:chExt cx="3413760" cy="14630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4137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341376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ETL</a:t>
              </a:r>
            </a:p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Pipeline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383280" y="3200400"/>
            <a:ext cx="2560320" cy="731520"/>
            <a:chOff x="0" y="0"/>
            <a:chExt cx="3413760" cy="9753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413760" cy="975360"/>
            </a:xfrm>
            <a:custGeom>
              <a:avLst/>
              <a:gdLst/>
              <a:ahLst/>
              <a:cxnLst/>
              <a:rect r="r" b="b" t="t" l="l"/>
              <a:pathLst>
                <a:path h="97536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34137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data_ingestion.py</a:t>
              </a:r>
            </a:p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live_nav_fetch.py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980176" y="2651760"/>
            <a:ext cx="365760" cy="731520"/>
            <a:chOff x="0" y="0"/>
            <a:chExt cx="487680" cy="9753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87680" cy="975360"/>
            </a:xfrm>
            <a:custGeom>
              <a:avLst/>
              <a:gdLst/>
              <a:ahLst/>
              <a:cxnLst/>
              <a:rect r="r" b="b" t="t" l="l"/>
              <a:pathLst>
                <a:path h="975360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6607" t="0" r="-206607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66675"/>
              <a:ext cx="48768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D3B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303007" y="2005327"/>
            <a:ext cx="2573017" cy="2024377"/>
            <a:chOff x="0" y="0"/>
            <a:chExt cx="3430689" cy="269916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430651" cy="2699131"/>
            </a:xfrm>
            <a:custGeom>
              <a:avLst/>
              <a:gdLst/>
              <a:ahLst/>
              <a:cxnLst/>
              <a:rect r="r" b="b" t="t" l="l"/>
              <a:pathLst>
                <a:path h="2699131" w="3430651">
                  <a:moveTo>
                    <a:pt x="0" y="0"/>
                  </a:moveTo>
                  <a:lnTo>
                    <a:pt x="3430651" y="0"/>
                  </a:lnTo>
                  <a:lnTo>
                    <a:pt x="3430651" y="2699131"/>
                  </a:lnTo>
                  <a:lnTo>
                    <a:pt x="0" y="2699131"/>
                  </a:lnTo>
                  <a:close/>
                </a:path>
              </a:pathLst>
            </a:custGeom>
            <a:solidFill>
              <a:srgbClr val="0D47A1"/>
            </a:solidFill>
            <a:ln w="127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6309360" y="2103120"/>
            <a:ext cx="2560320" cy="1097280"/>
            <a:chOff x="0" y="0"/>
            <a:chExt cx="3413760" cy="14630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4137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341376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</a:t>
              </a:r>
            </a:p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Cleaning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309360" y="3200400"/>
            <a:ext cx="2560320" cy="731520"/>
            <a:chOff x="0" y="0"/>
            <a:chExt cx="3413760" cy="9753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413760" cy="975360"/>
            </a:xfrm>
            <a:custGeom>
              <a:avLst/>
              <a:gdLst/>
              <a:ahLst/>
              <a:cxnLst/>
              <a:rect r="r" b="b" t="t" l="l"/>
              <a:pathLst>
                <a:path h="97536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34137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data_cleaning.py</a:t>
              </a:r>
            </a:p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Forward-fill NAV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8906256" y="2651760"/>
            <a:ext cx="365760" cy="731520"/>
            <a:chOff x="0" y="0"/>
            <a:chExt cx="487680" cy="97536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87680" cy="975360"/>
            </a:xfrm>
            <a:custGeom>
              <a:avLst/>
              <a:gdLst/>
              <a:ahLst/>
              <a:cxnLst/>
              <a:rect r="r" b="b" t="t" l="l"/>
              <a:pathLst>
                <a:path h="975360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6607" t="0" r="-206607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66675"/>
              <a:ext cx="48768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D3B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229087" y="2005327"/>
            <a:ext cx="2573017" cy="2024377"/>
            <a:chOff x="0" y="0"/>
            <a:chExt cx="3430689" cy="269916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430651" cy="2699131"/>
            </a:xfrm>
            <a:custGeom>
              <a:avLst/>
              <a:gdLst/>
              <a:ahLst/>
              <a:cxnLst/>
              <a:rect r="r" b="b" t="t" l="l"/>
              <a:pathLst>
                <a:path h="2699131" w="3430651">
                  <a:moveTo>
                    <a:pt x="0" y="0"/>
                  </a:moveTo>
                  <a:lnTo>
                    <a:pt x="3430651" y="0"/>
                  </a:lnTo>
                  <a:lnTo>
                    <a:pt x="3430651" y="2699131"/>
                  </a:lnTo>
                  <a:lnTo>
                    <a:pt x="0" y="2699131"/>
                  </a:lnTo>
                  <a:close/>
                </a:path>
              </a:pathLst>
            </a:custGeom>
            <a:solidFill>
              <a:srgbClr val="1976D2"/>
            </a:solidFill>
            <a:ln w="127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9235440" y="2103120"/>
            <a:ext cx="2560320" cy="1097280"/>
            <a:chOff x="0" y="0"/>
            <a:chExt cx="3413760" cy="14630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4137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341376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SQLite</a:t>
              </a:r>
            </a:p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Database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235440" y="3200400"/>
            <a:ext cx="2560320" cy="731520"/>
            <a:chOff x="0" y="0"/>
            <a:chExt cx="3413760" cy="97536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413760" cy="975360"/>
            </a:xfrm>
            <a:custGeom>
              <a:avLst/>
              <a:gdLst/>
              <a:ahLst/>
              <a:cxnLst/>
              <a:rect r="r" b="b" t="t" l="l"/>
              <a:pathLst>
                <a:path h="97536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34137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bluestock_mf.db</a:t>
              </a:r>
            </a:p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 tables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1832336" y="2651760"/>
            <a:ext cx="365760" cy="731520"/>
            <a:chOff x="0" y="0"/>
            <a:chExt cx="487680" cy="97536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87680" cy="975360"/>
            </a:xfrm>
            <a:custGeom>
              <a:avLst/>
              <a:gdLst/>
              <a:ahLst/>
              <a:cxnLst/>
              <a:rect r="r" b="b" t="t" l="l"/>
              <a:pathLst>
                <a:path h="975360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6607" t="0" r="-206607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66675"/>
              <a:ext cx="48768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D3B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2155167" y="2005327"/>
            <a:ext cx="2573017" cy="2024377"/>
            <a:chOff x="0" y="0"/>
            <a:chExt cx="3430689" cy="2699169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430651" cy="2699131"/>
            </a:xfrm>
            <a:custGeom>
              <a:avLst/>
              <a:gdLst/>
              <a:ahLst/>
              <a:cxnLst/>
              <a:rect r="r" b="b" t="t" l="l"/>
              <a:pathLst>
                <a:path h="2699131" w="3430651">
                  <a:moveTo>
                    <a:pt x="0" y="0"/>
                  </a:moveTo>
                  <a:lnTo>
                    <a:pt x="3430651" y="0"/>
                  </a:lnTo>
                  <a:lnTo>
                    <a:pt x="3430651" y="2699131"/>
                  </a:lnTo>
                  <a:lnTo>
                    <a:pt x="0" y="2699131"/>
                  </a:lnTo>
                  <a:close/>
                </a:path>
              </a:pathLst>
            </a:custGeom>
            <a:solidFill>
              <a:srgbClr val="283593"/>
            </a:solidFill>
            <a:ln w="127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12161520" y="2103120"/>
            <a:ext cx="2560320" cy="1097280"/>
            <a:chOff x="0" y="0"/>
            <a:chExt cx="3413760" cy="14630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4137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341376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Analytics</a:t>
              </a:r>
            </a:p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Layer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2161520" y="3200400"/>
            <a:ext cx="2560320" cy="731520"/>
            <a:chOff x="0" y="0"/>
            <a:chExt cx="3413760" cy="97536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413760" cy="975360"/>
            </a:xfrm>
            <a:custGeom>
              <a:avLst/>
              <a:gdLst/>
              <a:ahLst/>
              <a:cxnLst/>
              <a:rect r="r" b="b" t="t" l="l"/>
              <a:pathLst>
                <a:path h="97536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34137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Notebooks</a:t>
              </a:r>
            </a:p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CSV outputs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4758416" y="2651760"/>
            <a:ext cx="365760" cy="731520"/>
            <a:chOff x="0" y="0"/>
            <a:chExt cx="487680" cy="97536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87680" cy="975360"/>
            </a:xfrm>
            <a:custGeom>
              <a:avLst/>
              <a:gdLst/>
              <a:ahLst/>
              <a:cxnLst/>
              <a:rect r="r" b="b" t="t" l="l"/>
              <a:pathLst>
                <a:path h="975360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6607" t="0" r="-206607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66675"/>
              <a:ext cx="48768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D3B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5081247" y="2005327"/>
            <a:ext cx="2573017" cy="2024377"/>
            <a:chOff x="0" y="0"/>
            <a:chExt cx="3430689" cy="2699169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430651" cy="2699131"/>
            </a:xfrm>
            <a:custGeom>
              <a:avLst/>
              <a:gdLst/>
              <a:ahLst/>
              <a:cxnLst/>
              <a:rect r="r" b="b" t="t" l="l"/>
              <a:pathLst>
                <a:path h="2699131" w="3430651">
                  <a:moveTo>
                    <a:pt x="0" y="0"/>
                  </a:moveTo>
                  <a:lnTo>
                    <a:pt x="3430651" y="0"/>
                  </a:lnTo>
                  <a:lnTo>
                    <a:pt x="3430651" y="2699131"/>
                  </a:lnTo>
                  <a:lnTo>
                    <a:pt x="0" y="2699131"/>
                  </a:lnTo>
                  <a:close/>
                </a:path>
              </a:pathLst>
            </a:custGeom>
            <a:solidFill>
              <a:srgbClr val="2962FF"/>
            </a:solidFill>
            <a:ln w="127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15087600" y="2103120"/>
            <a:ext cx="2560320" cy="1097280"/>
            <a:chOff x="0" y="0"/>
            <a:chExt cx="3413760" cy="146304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4137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47625"/>
              <a:ext cx="341376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Dashboard</a:t>
              </a:r>
            </a:p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&amp; Report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5087600" y="3200400"/>
            <a:ext cx="2560320" cy="731520"/>
            <a:chOff x="0" y="0"/>
            <a:chExt cx="3413760" cy="97536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413760" cy="975360"/>
            </a:xfrm>
            <a:custGeom>
              <a:avLst/>
              <a:gdLst/>
              <a:ahLst/>
              <a:cxnLst/>
              <a:rect r="r" b="b" t="t" l="l"/>
              <a:pathLst>
                <a:path h="97536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34137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Power BI</a:t>
              </a:r>
            </a:p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PPTX + DOCX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731520" y="4572000"/>
            <a:ext cx="16459200" cy="731520"/>
            <a:chOff x="0" y="0"/>
            <a:chExt cx="21945600" cy="97536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1945600" cy="975360"/>
            </a:xfrm>
            <a:custGeom>
              <a:avLst/>
              <a:gdLst/>
              <a:ahLst/>
              <a:cxnLst/>
              <a:rect r="r" b="b" t="t" l="l"/>
              <a:pathLst>
                <a:path h="9753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66675"/>
              <a:ext cx="2194560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565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 Datasets Processed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542287" y="5480047"/>
            <a:ext cx="17203417" cy="671065"/>
            <a:chOff x="0" y="0"/>
            <a:chExt cx="22937889" cy="894753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2937851" cy="894715"/>
            </a:xfrm>
            <a:custGeom>
              <a:avLst/>
              <a:gdLst/>
              <a:ahLst/>
              <a:cxnLst/>
              <a:rect r="r" b="b" t="t" l="l"/>
              <a:pathLst>
                <a:path h="894715" w="22937851">
                  <a:moveTo>
                    <a:pt x="0" y="0"/>
                  </a:moveTo>
                  <a:lnTo>
                    <a:pt x="22937851" y="0"/>
                  </a:lnTo>
                  <a:lnTo>
                    <a:pt x="22937851" y="894715"/>
                  </a:lnTo>
                  <a:lnTo>
                    <a:pt x="0" y="894715"/>
                  </a:lnTo>
                  <a:close/>
                </a:path>
              </a:pathLst>
            </a:custGeom>
            <a:solidFill>
              <a:srgbClr val="EAF3FC"/>
            </a:solidFill>
            <a:ln w="12700" cap="sq">
              <a:solidFill>
                <a:srgbClr val="D6E9FA"/>
              </a:solidFill>
              <a:prstDash val="solid"/>
              <a:miter/>
            </a:ln>
          </p:spPr>
        </p:sp>
      </p:grpSp>
      <p:grpSp>
        <p:nvGrpSpPr>
          <p:cNvPr name="Group 75" id="75"/>
          <p:cNvGrpSpPr/>
          <p:nvPr/>
        </p:nvGrpSpPr>
        <p:grpSpPr>
          <a:xfrm rot="0">
            <a:off x="731520" y="5577840"/>
            <a:ext cx="4572000" cy="475488"/>
            <a:chOff x="0" y="0"/>
            <a:chExt cx="6096000" cy="633984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096000" cy="633984"/>
            </a:xfrm>
            <a:custGeom>
              <a:avLst/>
              <a:gdLst/>
              <a:ahLst/>
              <a:cxnLst/>
              <a:rect r="r" b="b" t="t" l="l"/>
              <a:pathLst>
                <a:path h="633984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356" r="0" b="-137356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609600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565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01_fund_master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5394960" y="5577840"/>
            <a:ext cx="2560320" cy="475488"/>
            <a:chOff x="0" y="0"/>
            <a:chExt cx="3413760" cy="633984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3413760" cy="633984"/>
            </a:xfrm>
            <a:custGeom>
              <a:avLst/>
              <a:gdLst/>
              <a:ahLst/>
              <a:cxnLst/>
              <a:rect r="r" b="b" t="t" l="l"/>
              <a:pathLst>
                <a:path h="633984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919" r="0" b="-54919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341376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D47A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40 rows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8046720" y="5577840"/>
            <a:ext cx="9509760" cy="475488"/>
            <a:chOff x="0" y="0"/>
            <a:chExt cx="12679680" cy="633984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2679680" cy="633984"/>
            </a:xfrm>
            <a:custGeom>
              <a:avLst/>
              <a:gdLst/>
              <a:ahLst/>
              <a:cxnLst/>
              <a:rect r="r" b="b" t="t" l="l"/>
              <a:pathLst>
                <a:path h="633984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1267968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Fund metadata, categories, risk grades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542287" y="6174991"/>
            <a:ext cx="17203417" cy="671065"/>
            <a:chOff x="0" y="0"/>
            <a:chExt cx="22937889" cy="894753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2937851" cy="894715"/>
            </a:xfrm>
            <a:custGeom>
              <a:avLst/>
              <a:gdLst/>
              <a:ahLst/>
              <a:cxnLst/>
              <a:rect r="r" b="b" t="t" l="l"/>
              <a:pathLst>
                <a:path h="894715" w="22937851">
                  <a:moveTo>
                    <a:pt x="0" y="0"/>
                  </a:moveTo>
                  <a:lnTo>
                    <a:pt x="22937851" y="0"/>
                  </a:lnTo>
                  <a:lnTo>
                    <a:pt x="22937851" y="894715"/>
                  </a:lnTo>
                  <a:lnTo>
                    <a:pt x="0" y="894715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6E9FA"/>
              </a:solidFill>
              <a:prstDash val="solid"/>
              <a:miter/>
            </a:ln>
          </p:spPr>
        </p:sp>
      </p:grpSp>
      <p:grpSp>
        <p:nvGrpSpPr>
          <p:cNvPr name="Group 86" id="86"/>
          <p:cNvGrpSpPr/>
          <p:nvPr/>
        </p:nvGrpSpPr>
        <p:grpSpPr>
          <a:xfrm rot="0">
            <a:off x="731520" y="6272784"/>
            <a:ext cx="4572000" cy="475488"/>
            <a:chOff x="0" y="0"/>
            <a:chExt cx="6096000" cy="633984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6096000" cy="633984"/>
            </a:xfrm>
            <a:custGeom>
              <a:avLst/>
              <a:gdLst/>
              <a:ahLst/>
              <a:cxnLst/>
              <a:rect r="r" b="b" t="t" l="l"/>
              <a:pathLst>
                <a:path h="633984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356" r="0" b="-137356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609600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565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02_nav_history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5394960" y="6272784"/>
            <a:ext cx="2560320" cy="475488"/>
            <a:chOff x="0" y="0"/>
            <a:chExt cx="3413760" cy="633984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3413760" cy="633984"/>
            </a:xfrm>
            <a:custGeom>
              <a:avLst/>
              <a:gdLst/>
              <a:ahLst/>
              <a:cxnLst/>
              <a:rect r="r" b="b" t="t" l="l"/>
              <a:pathLst>
                <a:path h="633984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919" r="0" b="-54919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341376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D47A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46,000 rows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8046720" y="6272784"/>
            <a:ext cx="9509760" cy="475488"/>
            <a:chOff x="0" y="0"/>
            <a:chExt cx="12679680" cy="633984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2679680" cy="633984"/>
            </a:xfrm>
            <a:custGeom>
              <a:avLst/>
              <a:gdLst/>
              <a:ahLst/>
              <a:cxnLst/>
              <a:rect r="r" b="b" t="t" l="l"/>
              <a:pathLst>
                <a:path h="633984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1267968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Daily NAV — forward-filled for weekends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542287" y="6869935"/>
            <a:ext cx="17203417" cy="671065"/>
            <a:chOff x="0" y="0"/>
            <a:chExt cx="22937889" cy="894753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22937851" cy="894715"/>
            </a:xfrm>
            <a:custGeom>
              <a:avLst/>
              <a:gdLst/>
              <a:ahLst/>
              <a:cxnLst/>
              <a:rect r="r" b="b" t="t" l="l"/>
              <a:pathLst>
                <a:path h="894715" w="22937851">
                  <a:moveTo>
                    <a:pt x="0" y="0"/>
                  </a:moveTo>
                  <a:lnTo>
                    <a:pt x="22937851" y="0"/>
                  </a:lnTo>
                  <a:lnTo>
                    <a:pt x="22937851" y="894715"/>
                  </a:lnTo>
                  <a:lnTo>
                    <a:pt x="0" y="894715"/>
                  </a:lnTo>
                  <a:close/>
                </a:path>
              </a:pathLst>
            </a:custGeom>
            <a:solidFill>
              <a:srgbClr val="EAF3FC"/>
            </a:solidFill>
            <a:ln w="12700" cap="sq">
              <a:solidFill>
                <a:srgbClr val="D6E9FA"/>
              </a:solidFill>
              <a:prstDash val="solid"/>
              <a:miter/>
            </a:ln>
          </p:spPr>
        </p:sp>
      </p:grpSp>
      <p:grpSp>
        <p:nvGrpSpPr>
          <p:cNvPr name="Group 97" id="97"/>
          <p:cNvGrpSpPr/>
          <p:nvPr/>
        </p:nvGrpSpPr>
        <p:grpSpPr>
          <a:xfrm rot="0">
            <a:off x="731520" y="6967728"/>
            <a:ext cx="4572000" cy="475488"/>
            <a:chOff x="0" y="0"/>
            <a:chExt cx="6096000" cy="633984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6096000" cy="633984"/>
            </a:xfrm>
            <a:custGeom>
              <a:avLst/>
              <a:gdLst/>
              <a:ahLst/>
              <a:cxnLst/>
              <a:rect r="r" b="b" t="t" l="l"/>
              <a:pathLst>
                <a:path h="633984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356" r="0" b="-137356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38100"/>
              <a:ext cx="609600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565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03_aum_by_fund_house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5394960" y="6967728"/>
            <a:ext cx="2560320" cy="475488"/>
            <a:chOff x="0" y="0"/>
            <a:chExt cx="3413760" cy="633984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3413760" cy="633984"/>
            </a:xfrm>
            <a:custGeom>
              <a:avLst/>
              <a:gdLst/>
              <a:ahLst/>
              <a:cxnLst/>
              <a:rect r="r" b="b" t="t" l="l"/>
              <a:pathLst>
                <a:path h="633984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919" r="0" b="-54919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38100"/>
              <a:ext cx="341376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D47A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90 rows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8046720" y="6967728"/>
            <a:ext cx="9509760" cy="475488"/>
            <a:chOff x="0" y="0"/>
            <a:chExt cx="12679680" cy="633984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12679680" cy="633984"/>
            </a:xfrm>
            <a:custGeom>
              <a:avLst/>
              <a:gdLst/>
              <a:ahLst/>
              <a:cxnLst/>
              <a:rect r="r" b="b" t="t" l="l"/>
              <a:pathLst>
                <a:path h="633984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38100"/>
              <a:ext cx="1267968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Quarterly AUM per AMC 2022–2025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542287" y="7564879"/>
            <a:ext cx="17203417" cy="671065"/>
            <a:chOff x="0" y="0"/>
            <a:chExt cx="22937889" cy="894753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22937851" cy="894715"/>
            </a:xfrm>
            <a:custGeom>
              <a:avLst/>
              <a:gdLst/>
              <a:ahLst/>
              <a:cxnLst/>
              <a:rect r="r" b="b" t="t" l="l"/>
              <a:pathLst>
                <a:path h="894715" w="22937851">
                  <a:moveTo>
                    <a:pt x="0" y="0"/>
                  </a:moveTo>
                  <a:lnTo>
                    <a:pt x="22937851" y="0"/>
                  </a:lnTo>
                  <a:lnTo>
                    <a:pt x="22937851" y="894715"/>
                  </a:lnTo>
                  <a:lnTo>
                    <a:pt x="0" y="894715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6E9FA"/>
              </a:solidFill>
              <a:prstDash val="solid"/>
              <a:miter/>
            </a:ln>
          </p:spPr>
        </p:sp>
      </p:grpSp>
      <p:grpSp>
        <p:nvGrpSpPr>
          <p:cNvPr name="Group 108" id="108"/>
          <p:cNvGrpSpPr/>
          <p:nvPr/>
        </p:nvGrpSpPr>
        <p:grpSpPr>
          <a:xfrm rot="0">
            <a:off x="731520" y="7662672"/>
            <a:ext cx="4572000" cy="475488"/>
            <a:chOff x="0" y="0"/>
            <a:chExt cx="6096000" cy="633984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6096000" cy="633984"/>
            </a:xfrm>
            <a:custGeom>
              <a:avLst/>
              <a:gdLst/>
              <a:ahLst/>
              <a:cxnLst/>
              <a:rect r="r" b="b" t="t" l="l"/>
              <a:pathLst>
                <a:path h="633984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356" r="0" b="-137356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38100"/>
              <a:ext cx="609600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565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04_monthly_sip_inflows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5394960" y="7662672"/>
            <a:ext cx="2560320" cy="475488"/>
            <a:chOff x="0" y="0"/>
            <a:chExt cx="3413760" cy="633984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3413760" cy="633984"/>
            </a:xfrm>
            <a:custGeom>
              <a:avLst/>
              <a:gdLst/>
              <a:ahLst/>
              <a:cxnLst/>
              <a:rect r="r" b="b" t="t" l="l"/>
              <a:pathLst>
                <a:path h="633984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919" r="0" b="-54919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38100"/>
              <a:ext cx="341376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D47A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48 rows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8046720" y="7662672"/>
            <a:ext cx="9509760" cy="475488"/>
            <a:chOff x="0" y="0"/>
            <a:chExt cx="12679680" cy="633984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12679680" cy="633984"/>
            </a:xfrm>
            <a:custGeom>
              <a:avLst/>
              <a:gdLst/>
              <a:ahLst/>
              <a:cxnLst/>
              <a:rect r="r" b="b" t="t" l="l"/>
              <a:pathLst>
                <a:path h="633984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38100"/>
              <a:ext cx="1267968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Industry SIP data — ₹31,002 Cr ATH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542287" y="8259823"/>
            <a:ext cx="17203417" cy="671065"/>
            <a:chOff x="0" y="0"/>
            <a:chExt cx="22937889" cy="894753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22937851" cy="894715"/>
            </a:xfrm>
            <a:custGeom>
              <a:avLst/>
              <a:gdLst/>
              <a:ahLst/>
              <a:cxnLst/>
              <a:rect r="r" b="b" t="t" l="l"/>
              <a:pathLst>
                <a:path h="894715" w="22937851">
                  <a:moveTo>
                    <a:pt x="0" y="0"/>
                  </a:moveTo>
                  <a:lnTo>
                    <a:pt x="22937851" y="0"/>
                  </a:lnTo>
                  <a:lnTo>
                    <a:pt x="22937851" y="894715"/>
                  </a:lnTo>
                  <a:lnTo>
                    <a:pt x="0" y="894715"/>
                  </a:lnTo>
                  <a:close/>
                </a:path>
              </a:pathLst>
            </a:custGeom>
            <a:solidFill>
              <a:srgbClr val="EAF3FC"/>
            </a:solidFill>
            <a:ln w="12700" cap="sq">
              <a:solidFill>
                <a:srgbClr val="D6E9FA"/>
              </a:solidFill>
              <a:prstDash val="solid"/>
              <a:miter/>
            </a:ln>
          </p:spPr>
        </p:sp>
      </p:grpSp>
      <p:grpSp>
        <p:nvGrpSpPr>
          <p:cNvPr name="Group 119" id="119"/>
          <p:cNvGrpSpPr/>
          <p:nvPr/>
        </p:nvGrpSpPr>
        <p:grpSpPr>
          <a:xfrm rot="0">
            <a:off x="731520" y="8357616"/>
            <a:ext cx="4572000" cy="475488"/>
            <a:chOff x="0" y="0"/>
            <a:chExt cx="6096000" cy="633984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6096000" cy="633984"/>
            </a:xfrm>
            <a:custGeom>
              <a:avLst/>
              <a:gdLst/>
              <a:ahLst/>
              <a:cxnLst/>
              <a:rect r="r" b="b" t="t" l="l"/>
              <a:pathLst>
                <a:path h="633984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356" r="0" b="-137356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38100"/>
              <a:ext cx="609600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565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07_scheme_performance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5394960" y="8357616"/>
            <a:ext cx="2560320" cy="475488"/>
            <a:chOff x="0" y="0"/>
            <a:chExt cx="3413760" cy="633984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3413760" cy="633984"/>
            </a:xfrm>
            <a:custGeom>
              <a:avLst/>
              <a:gdLst/>
              <a:ahLst/>
              <a:cxnLst/>
              <a:rect r="r" b="b" t="t" l="l"/>
              <a:pathLst>
                <a:path h="633984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919" r="0" b="-54919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38100"/>
              <a:ext cx="341376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D47A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40 rows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8046720" y="8357616"/>
            <a:ext cx="9509760" cy="475488"/>
            <a:chOff x="0" y="0"/>
            <a:chExt cx="12679680" cy="633984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12679680" cy="633984"/>
            </a:xfrm>
            <a:custGeom>
              <a:avLst/>
              <a:gdLst/>
              <a:ahLst/>
              <a:cxnLst/>
              <a:rect r="r" b="b" t="t" l="l"/>
              <a:pathLst>
                <a:path h="633984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38100"/>
              <a:ext cx="1267968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Sharpe, Alpha, Beta, Drawdown metrics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542287" y="8954767"/>
            <a:ext cx="17203417" cy="671065"/>
            <a:chOff x="0" y="0"/>
            <a:chExt cx="22937889" cy="894753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22937851" cy="894715"/>
            </a:xfrm>
            <a:custGeom>
              <a:avLst/>
              <a:gdLst/>
              <a:ahLst/>
              <a:cxnLst/>
              <a:rect r="r" b="b" t="t" l="l"/>
              <a:pathLst>
                <a:path h="894715" w="22937851">
                  <a:moveTo>
                    <a:pt x="0" y="0"/>
                  </a:moveTo>
                  <a:lnTo>
                    <a:pt x="22937851" y="0"/>
                  </a:lnTo>
                  <a:lnTo>
                    <a:pt x="22937851" y="894715"/>
                  </a:lnTo>
                  <a:lnTo>
                    <a:pt x="0" y="894715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6E9FA"/>
              </a:solidFill>
              <a:prstDash val="solid"/>
              <a:miter/>
            </a:ln>
          </p:spPr>
        </p:sp>
      </p:grpSp>
      <p:grpSp>
        <p:nvGrpSpPr>
          <p:cNvPr name="Group 130" id="130"/>
          <p:cNvGrpSpPr/>
          <p:nvPr/>
        </p:nvGrpSpPr>
        <p:grpSpPr>
          <a:xfrm rot="0">
            <a:off x="731520" y="9052560"/>
            <a:ext cx="4572000" cy="475488"/>
            <a:chOff x="0" y="0"/>
            <a:chExt cx="6096000" cy="633984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6096000" cy="633984"/>
            </a:xfrm>
            <a:custGeom>
              <a:avLst/>
              <a:gdLst/>
              <a:ahLst/>
              <a:cxnLst/>
              <a:rect r="r" b="b" t="t" l="l"/>
              <a:pathLst>
                <a:path h="633984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356" r="0" b="-137356"/>
              </a:stretch>
            </a:blipFill>
          </p:spPr>
        </p:sp>
        <p:sp>
          <p:nvSpPr>
            <p:cNvPr name="TextBox 132" id="132"/>
            <p:cNvSpPr txBox="true"/>
            <p:nvPr/>
          </p:nvSpPr>
          <p:spPr>
            <a:xfrm>
              <a:off x="0" y="-38100"/>
              <a:ext cx="609600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565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08_investor_transactions</a:t>
              </a:r>
            </a:p>
          </p:txBody>
        </p:sp>
      </p:grpSp>
      <p:grpSp>
        <p:nvGrpSpPr>
          <p:cNvPr name="Group 133" id="133"/>
          <p:cNvGrpSpPr/>
          <p:nvPr/>
        </p:nvGrpSpPr>
        <p:grpSpPr>
          <a:xfrm rot="0">
            <a:off x="5394960" y="9052560"/>
            <a:ext cx="2560320" cy="475488"/>
            <a:chOff x="0" y="0"/>
            <a:chExt cx="3413760" cy="633984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3413760" cy="633984"/>
            </a:xfrm>
            <a:custGeom>
              <a:avLst/>
              <a:gdLst/>
              <a:ahLst/>
              <a:cxnLst/>
              <a:rect r="r" b="b" t="t" l="l"/>
              <a:pathLst>
                <a:path h="633984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919" r="0" b="-54919"/>
              </a:stretch>
            </a:blipFill>
          </p:spPr>
        </p:sp>
        <p:sp>
          <p:nvSpPr>
            <p:cNvPr name="TextBox 135" id="135"/>
            <p:cNvSpPr txBox="true"/>
            <p:nvPr/>
          </p:nvSpPr>
          <p:spPr>
            <a:xfrm>
              <a:off x="0" y="-38100"/>
              <a:ext cx="341376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D47A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32,778 rows</a:t>
              </a:r>
            </a:p>
          </p:txBody>
        </p:sp>
      </p:grpSp>
      <p:grpSp>
        <p:nvGrpSpPr>
          <p:cNvPr name="Group 136" id="136"/>
          <p:cNvGrpSpPr/>
          <p:nvPr/>
        </p:nvGrpSpPr>
        <p:grpSpPr>
          <a:xfrm rot="0">
            <a:off x="8046720" y="9052560"/>
            <a:ext cx="9509760" cy="475488"/>
            <a:chOff x="0" y="0"/>
            <a:chExt cx="12679680" cy="633984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12679680" cy="633984"/>
            </a:xfrm>
            <a:custGeom>
              <a:avLst/>
              <a:gdLst/>
              <a:ahLst/>
              <a:cxnLst/>
              <a:rect r="r" b="b" t="t" l="l"/>
              <a:pathLst>
                <a:path h="633984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38" id="138"/>
            <p:cNvSpPr txBox="true"/>
            <p:nvPr/>
          </p:nvSpPr>
          <p:spPr>
            <a:xfrm>
              <a:off x="0" y="-38100"/>
              <a:ext cx="1267968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SIP/Lumpsum/Redemption investor data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645920"/>
            <a:chOff x="0" y="0"/>
            <a:chExt cx="24384000" cy="21945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182880"/>
            <a:ext cx="16824960" cy="1280160"/>
            <a:chOff x="0" y="0"/>
            <a:chExt cx="22433280" cy="17068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4332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089" r="0" b="-206089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22433280" cy="1792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Exploratory Data Analysis — Key Findings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38150" y="1901190"/>
            <a:ext cx="8450580" cy="2415540"/>
            <a:chOff x="0" y="0"/>
            <a:chExt cx="11267440" cy="32207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267440" cy="3220720"/>
            </a:xfrm>
            <a:custGeom>
              <a:avLst/>
              <a:gdLst/>
              <a:ahLst/>
              <a:cxnLst/>
              <a:rect r="r" b="b" t="t" l="l"/>
              <a:pathLst>
                <a:path h="3220720" w="11267440">
                  <a:moveTo>
                    <a:pt x="0" y="0"/>
                  </a:moveTo>
                  <a:lnTo>
                    <a:pt x="11267440" y="0"/>
                  </a:lnTo>
                  <a:lnTo>
                    <a:pt x="11267440" y="3220720"/>
                  </a:lnTo>
                  <a:lnTo>
                    <a:pt x="0" y="3220720"/>
                  </a:lnTo>
                  <a:close/>
                </a:path>
              </a:pathLst>
            </a:custGeom>
            <a:solidFill>
              <a:srgbClr val="EAF3FC"/>
            </a:solidFill>
            <a:ln w="38100" cap="sq">
              <a:solidFill>
                <a:srgbClr val="0D3B66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640080" y="2066544"/>
            <a:ext cx="822960" cy="640080"/>
            <a:chOff x="0" y="0"/>
            <a:chExt cx="1097280" cy="8534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9728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791" t="0" r="-49791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09728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D3B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63040" y="2066544"/>
            <a:ext cx="4023360" cy="640080"/>
            <a:chOff x="0" y="0"/>
            <a:chExt cx="5364480" cy="8534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364480" cy="853440"/>
            </a:xfrm>
            <a:custGeom>
              <a:avLst/>
              <a:gdLst/>
              <a:ahLst/>
              <a:cxnLst/>
              <a:rect r="r" b="b" t="t" l="l"/>
              <a:pathLst>
                <a:path h="853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477" r="0" b="-7247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3644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D3B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SIP All-Time High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577840" y="2011680"/>
            <a:ext cx="3108960" cy="768096"/>
            <a:chOff x="0" y="0"/>
            <a:chExt cx="4145280" cy="102412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1452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868" r="0" b="-28868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4145280" cy="1090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4320"/>
                </a:lnSpc>
              </a:pPr>
              <a:r>
                <a:rPr lang="en-US" sz="3600" b="true">
                  <a:solidFill>
                    <a:srgbClr val="0D3B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₹31,002 Cr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76656" y="2798064"/>
            <a:ext cx="7900416" cy="1371600"/>
            <a:chOff x="0" y="0"/>
            <a:chExt cx="10533888" cy="1828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533888" cy="1828800"/>
            </a:xfrm>
            <a:custGeom>
              <a:avLst/>
              <a:gdLst/>
              <a:ahLst/>
              <a:cxnLst/>
              <a:rect r="r" b="b" t="t" l="l"/>
              <a:pathLst>
                <a:path h="1828800" w="10533888">
                  <a:moveTo>
                    <a:pt x="0" y="0"/>
                  </a:moveTo>
                  <a:lnTo>
                    <a:pt x="10533888" y="0"/>
                  </a:lnTo>
                  <a:lnTo>
                    <a:pt x="10533888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233" r="0" b="-6223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0533888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Monthly SIP inflows hit ₹31,002 Cr in Dec 2025 — a 3x growth from ₹10,000 Cr in Jan 2022, showing massive retail participation shift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307830" y="1901190"/>
            <a:ext cx="8450580" cy="2415540"/>
            <a:chOff x="0" y="0"/>
            <a:chExt cx="11267440" cy="32207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267440" cy="3220720"/>
            </a:xfrm>
            <a:custGeom>
              <a:avLst/>
              <a:gdLst/>
              <a:ahLst/>
              <a:cxnLst/>
              <a:rect r="r" b="b" t="t" l="l"/>
              <a:pathLst>
                <a:path h="3220720" w="11267440">
                  <a:moveTo>
                    <a:pt x="0" y="0"/>
                  </a:moveTo>
                  <a:lnTo>
                    <a:pt x="11267440" y="0"/>
                  </a:lnTo>
                  <a:lnTo>
                    <a:pt x="11267440" y="3220720"/>
                  </a:lnTo>
                  <a:lnTo>
                    <a:pt x="0" y="3220720"/>
                  </a:lnTo>
                  <a:close/>
                </a:path>
              </a:pathLst>
            </a:custGeom>
            <a:solidFill>
              <a:srgbClr val="EAF3FC"/>
            </a:solidFill>
            <a:ln w="38100" cap="sq">
              <a:solidFill>
                <a:srgbClr val="1565C0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9509760" y="2066544"/>
            <a:ext cx="822960" cy="640080"/>
            <a:chOff x="0" y="0"/>
            <a:chExt cx="1097280" cy="8534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791" t="0" r="-49791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109728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565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332720" y="2066544"/>
            <a:ext cx="4023360" cy="640080"/>
            <a:chOff x="0" y="0"/>
            <a:chExt cx="5364480" cy="8534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364480" cy="853440"/>
            </a:xfrm>
            <a:custGeom>
              <a:avLst/>
              <a:gdLst/>
              <a:ahLst/>
              <a:cxnLst/>
              <a:rect r="r" b="b" t="t" l="l"/>
              <a:pathLst>
                <a:path h="853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477" r="0" b="-72477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53644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D3B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SBI Dominates AUM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447520" y="2011680"/>
            <a:ext cx="3108960" cy="768096"/>
            <a:chOff x="0" y="0"/>
            <a:chExt cx="4145280" cy="102412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1452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868" r="0" b="-28868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66675"/>
              <a:ext cx="4145280" cy="1090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4320"/>
                </a:lnSpc>
              </a:pPr>
              <a:r>
                <a:rPr lang="en-US" sz="3600" b="true">
                  <a:solidFill>
                    <a:srgbClr val="1565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₹12.5L Cr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546336" y="2798064"/>
            <a:ext cx="7900416" cy="1371600"/>
            <a:chOff x="0" y="0"/>
            <a:chExt cx="10533888" cy="1828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533888" cy="1828800"/>
            </a:xfrm>
            <a:custGeom>
              <a:avLst/>
              <a:gdLst/>
              <a:ahLst/>
              <a:cxnLst/>
              <a:rect r="r" b="b" t="t" l="l"/>
              <a:pathLst>
                <a:path h="1828800" w="10533888">
                  <a:moveTo>
                    <a:pt x="0" y="0"/>
                  </a:moveTo>
                  <a:lnTo>
                    <a:pt x="10533888" y="0"/>
                  </a:lnTo>
                  <a:lnTo>
                    <a:pt x="10533888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233" r="0" b="-62233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0533888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SBI Mutual Fund commands ₹12.5 Lakh Crore AUM — nearly 2x the nearest competitor HDFC, driven by unmatched retail distribution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438150" y="4552950"/>
            <a:ext cx="8450580" cy="2415540"/>
            <a:chOff x="0" y="0"/>
            <a:chExt cx="11267440" cy="32207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1267440" cy="3220720"/>
            </a:xfrm>
            <a:custGeom>
              <a:avLst/>
              <a:gdLst/>
              <a:ahLst/>
              <a:cxnLst/>
              <a:rect r="r" b="b" t="t" l="l"/>
              <a:pathLst>
                <a:path h="3220720" w="11267440">
                  <a:moveTo>
                    <a:pt x="0" y="0"/>
                  </a:moveTo>
                  <a:lnTo>
                    <a:pt x="11267440" y="0"/>
                  </a:lnTo>
                  <a:lnTo>
                    <a:pt x="11267440" y="3220720"/>
                  </a:lnTo>
                  <a:lnTo>
                    <a:pt x="0" y="3220720"/>
                  </a:lnTo>
                  <a:close/>
                </a:path>
              </a:pathLst>
            </a:custGeom>
            <a:solidFill>
              <a:srgbClr val="EAF3FC"/>
            </a:solidFill>
            <a:ln w="38100" cap="sq">
              <a:solidFill>
                <a:srgbClr val="0D47A1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640080" y="4718304"/>
            <a:ext cx="822960" cy="640080"/>
            <a:chOff x="0" y="0"/>
            <a:chExt cx="1097280" cy="8534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9728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791" t="0" r="-49791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109728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D47A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463040" y="4718304"/>
            <a:ext cx="4023360" cy="640080"/>
            <a:chOff x="0" y="0"/>
            <a:chExt cx="5364480" cy="8534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364480" cy="853440"/>
            </a:xfrm>
            <a:custGeom>
              <a:avLst/>
              <a:gdLst/>
              <a:ahLst/>
              <a:cxnLst/>
              <a:rect r="r" b="b" t="t" l="l"/>
              <a:pathLst>
                <a:path h="853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477" r="0" b="-72477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53644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D3B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Folio Count Doubled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5577840" y="4663440"/>
            <a:ext cx="3108960" cy="768096"/>
            <a:chOff x="0" y="0"/>
            <a:chExt cx="4145280" cy="102412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1452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868" r="0" b="-28868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66675"/>
              <a:ext cx="4145280" cy="1090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4320"/>
                </a:lnSpc>
              </a:pPr>
              <a:r>
                <a:rPr lang="en-US" sz="3600" b="true">
                  <a:solidFill>
                    <a:srgbClr val="0D47A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26.12 Cr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676656" y="5449824"/>
            <a:ext cx="7900416" cy="1371600"/>
            <a:chOff x="0" y="0"/>
            <a:chExt cx="10533888" cy="18288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533888" cy="1828800"/>
            </a:xfrm>
            <a:custGeom>
              <a:avLst/>
              <a:gdLst/>
              <a:ahLst/>
              <a:cxnLst/>
              <a:rect r="r" b="b" t="t" l="l"/>
              <a:pathLst>
                <a:path h="1828800" w="10533888">
                  <a:moveTo>
                    <a:pt x="0" y="0"/>
                  </a:moveTo>
                  <a:lnTo>
                    <a:pt x="10533888" y="0"/>
                  </a:lnTo>
                  <a:lnTo>
                    <a:pt x="10533888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233" r="0" b="-62233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10533888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Industry folios doubled from 13.26 Cr (Jan 2022) to 26.12 Cr (Dec 2025) in just 4 years, powered by digital onboarding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307830" y="4552950"/>
            <a:ext cx="8450580" cy="2415540"/>
            <a:chOff x="0" y="0"/>
            <a:chExt cx="11267440" cy="32207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1267440" cy="3220720"/>
            </a:xfrm>
            <a:custGeom>
              <a:avLst/>
              <a:gdLst/>
              <a:ahLst/>
              <a:cxnLst/>
              <a:rect r="r" b="b" t="t" l="l"/>
              <a:pathLst>
                <a:path h="3220720" w="11267440">
                  <a:moveTo>
                    <a:pt x="0" y="0"/>
                  </a:moveTo>
                  <a:lnTo>
                    <a:pt x="11267440" y="0"/>
                  </a:lnTo>
                  <a:lnTo>
                    <a:pt x="11267440" y="3220720"/>
                  </a:lnTo>
                  <a:lnTo>
                    <a:pt x="0" y="3220720"/>
                  </a:lnTo>
                  <a:close/>
                </a:path>
              </a:pathLst>
            </a:custGeom>
            <a:solidFill>
              <a:srgbClr val="EAF3FC"/>
            </a:solidFill>
            <a:ln w="38100" cap="sq">
              <a:solidFill>
                <a:srgbClr val="1976D2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9509760" y="4718304"/>
            <a:ext cx="822960" cy="640080"/>
            <a:chOff x="0" y="0"/>
            <a:chExt cx="1097280" cy="8534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9728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791" t="0" r="-49791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57150"/>
              <a:ext cx="109728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976D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0332720" y="4718304"/>
            <a:ext cx="4023360" cy="640080"/>
            <a:chOff x="0" y="0"/>
            <a:chExt cx="5364480" cy="8534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364480" cy="853440"/>
            </a:xfrm>
            <a:custGeom>
              <a:avLst/>
              <a:gdLst/>
              <a:ahLst/>
              <a:cxnLst/>
              <a:rect r="r" b="b" t="t" l="l"/>
              <a:pathLst>
                <a:path h="853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477" r="0" b="-72477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53644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D3B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SIP Dominates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4447520" y="4663440"/>
            <a:ext cx="3108960" cy="768096"/>
            <a:chOff x="0" y="0"/>
            <a:chExt cx="4145280" cy="1024128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1452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868" r="0" b="-28868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66675"/>
              <a:ext cx="4145280" cy="1090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4320"/>
                </a:lnSpc>
              </a:pPr>
              <a:r>
                <a:rPr lang="en-US" sz="3600" b="true">
                  <a:solidFill>
                    <a:srgbClr val="1976D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60.2%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9546336" y="5449824"/>
            <a:ext cx="7900416" cy="1371600"/>
            <a:chOff x="0" y="0"/>
            <a:chExt cx="10533888" cy="18288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0533888" cy="1828800"/>
            </a:xfrm>
            <a:custGeom>
              <a:avLst/>
              <a:gdLst/>
              <a:ahLst/>
              <a:cxnLst/>
              <a:rect r="r" b="b" t="t" l="l"/>
              <a:pathLst>
                <a:path h="1828800" w="10533888">
                  <a:moveTo>
                    <a:pt x="0" y="0"/>
                  </a:moveTo>
                  <a:lnTo>
                    <a:pt x="10533888" y="0"/>
                  </a:lnTo>
                  <a:lnTo>
                    <a:pt x="10533888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233" r="0" b="-62233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10533888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60.2% of all 32,778 transactions are SIP (19,716 transactions), confirming disciplined monthly investing is preferred over one-time lumpsum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438150" y="7204710"/>
            <a:ext cx="8450580" cy="2415540"/>
            <a:chOff x="0" y="0"/>
            <a:chExt cx="11267440" cy="322072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1267440" cy="3220720"/>
            </a:xfrm>
            <a:custGeom>
              <a:avLst/>
              <a:gdLst/>
              <a:ahLst/>
              <a:cxnLst/>
              <a:rect r="r" b="b" t="t" l="l"/>
              <a:pathLst>
                <a:path h="3220720" w="11267440">
                  <a:moveTo>
                    <a:pt x="0" y="0"/>
                  </a:moveTo>
                  <a:lnTo>
                    <a:pt x="11267440" y="0"/>
                  </a:lnTo>
                  <a:lnTo>
                    <a:pt x="11267440" y="3220720"/>
                  </a:lnTo>
                  <a:lnTo>
                    <a:pt x="0" y="3220720"/>
                  </a:lnTo>
                  <a:close/>
                </a:path>
              </a:pathLst>
            </a:custGeom>
            <a:solidFill>
              <a:srgbClr val="EAF3FC"/>
            </a:solidFill>
            <a:ln w="38100" cap="sq">
              <a:solidFill>
                <a:srgbClr val="283593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640080" y="7370064"/>
            <a:ext cx="822960" cy="640080"/>
            <a:chOff x="0" y="0"/>
            <a:chExt cx="1097280" cy="8534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9728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791" t="0" r="-49791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57150"/>
              <a:ext cx="109728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2835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463040" y="7370064"/>
            <a:ext cx="4023360" cy="640080"/>
            <a:chOff x="0" y="0"/>
            <a:chExt cx="5364480" cy="8534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5364480" cy="853440"/>
            </a:xfrm>
            <a:custGeom>
              <a:avLst/>
              <a:gdLst/>
              <a:ahLst/>
              <a:cxnLst/>
              <a:rect r="r" b="b" t="t" l="l"/>
              <a:pathLst>
                <a:path h="853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477" r="0" b="-72477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53644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D3B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Banking Leads Holdings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5577840" y="7315200"/>
            <a:ext cx="3108960" cy="768096"/>
            <a:chOff x="0" y="0"/>
            <a:chExt cx="4145280" cy="1024128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1452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868" r="0" b="-28868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66675"/>
              <a:ext cx="4145280" cy="1090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4320"/>
                </a:lnSpc>
              </a:pPr>
              <a:r>
                <a:rPr lang="en-US" sz="3600" b="true">
                  <a:solidFill>
                    <a:srgbClr val="2835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~28%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676656" y="8101584"/>
            <a:ext cx="7900416" cy="1371600"/>
            <a:chOff x="0" y="0"/>
            <a:chExt cx="10533888" cy="18288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0533888" cy="1828800"/>
            </a:xfrm>
            <a:custGeom>
              <a:avLst/>
              <a:gdLst/>
              <a:ahLst/>
              <a:cxnLst/>
              <a:rect r="r" b="b" t="t" l="l"/>
              <a:pathLst>
                <a:path h="1828800" w="10533888">
                  <a:moveTo>
                    <a:pt x="0" y="0"/>
                  </a:moveTo>
                  <a:lnTo>
                    <a:pt x="10533888" y="0"/>
                  </a:lnTo>
                  <a:lnTo>
                    <a:pt x="10533888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233" r="0" b="-62233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10533888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Banking sector has highest allocation (~28%) across all equity fund portfolios, followed by IT at 18% and Energy at 12%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9307830" y="7204710"/>
            <a:ext cx="8450580" cy="2415540"/>
            <a:chOff x="0" y="0"/>
            <a:chExt cx="11267440" cy="322072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1267440" cy="3220720"/>
            </a:xfrm>
            <a:custGeom>
              <a:avLst/>
              <a:gdLst/>
              <a:ahLst/>
              <a:cxnLst/>
              <a:rect r="r" b="b" t="t" l="l"/>
              <a:pathLst>
                <a:path h="3220720" w="11267440">
                  <a:moveTo>
                    <a:pt x="0" y="0"/>
                  </a:moveTo>
                  <a:lnTo>
                    <a:pt x="11267440" y="0"/>
                  </a:lnTo>
                  <a:lnTo>
                    <a:pt x="11267440" y="3220720"/>
                  </a:lnTo>
                  <a:lnTo>
                    <a:pt x="0" y="3220720"/>
                  </a:lnTo>
                  <a:close/>
                </a:path>
              </a:pathLst>
            </a:custGeom>
            <a:solidFill>
              <a:srgbClr val="EAF3FC"/>
            </a:solidFill>
            <a:ln w="38100" cap="sq">
              <a:solidFill>
                <a:srgbClr val="2962FF"/>
              </a:solidFill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9509760" y="7370064"/>
            <a:ext cx="822960" cy="640080"/>
            <a:chOff x="0" y="0"/>
            <a:chExt cx="1097280" cy="85344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09728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791" t="0" r="-49791" b="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57150"/>
              <a:ext cx="109728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2962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0332720" y="7370064"/>
            <a:ext cx="4023360" cy="640080"/>
            <a:chOff x="0" y="0"/>
            <a:chExt cx="5364480" cy="85344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5364480" cy="853440"/>
            </a:xfrm>
            <a:custGeom>
              <a:avLst/>
              <a:gdLst/>
              <a:ahLst/>
              <a:cxnLst/>
              <a:rect r="r" b="b" t="t" l="l"/>
              <a:pathLst>
                <a:path h="853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477" r="0" b="-72477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53644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D3B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T30 Cities Dominate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4447520" y="7315200"/>
            <a:ext cx="3108960" cy="768096"/>
            <a:chOff x="0" y="0"/>
            <a:chExt cx="4145280" cy="1024128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41452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868" r="0" b="-28868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66675"/>
              <a:ext cx="4145280" cy="1090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4320"/>
                </a:lnSpc>
              </a:pPr>
              <a:r>
                <a:rPr lang="en-US" sz="3600" b="true">
                  <a:solidFill>
                    <a:srgbClr val="2962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78%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9546336" y="8101584"/>
            <a:ext cx="7900416" cy="1371600"/>
            <a:chOff x="0" y="0"/>
            <a:chExt cx="10533888" cy="182880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0533888" cy="1828800"/>
            </a:xfrm>
            <a:custGeom>
              <a:avLst/>
              <a:gdLst/>
              <a:ahLst/>
              <a:cxnLst/>
              <a:rect r="r" b="b" t="t" l="l"/>
              <a:pathLst>
                <a:path h="1828800" w="10533888">
                  <a:moveTo>
                    <a:pt x="0" y="0"/>
                  </a:moveTo>
                  <a:lnTo>
                    <a:pt x="10533888" y="0"/>
                  </a:lnTo>
                  <a:lnTo>
                    <a:pt x="10533888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233" r="0" b="-62233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38100"/>
              <a:ext cx="10533888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T30 cities contribute 78% of SIP volume vs B30 at 22%, showing significant untapped geographic expansion opportunity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645920"/>
            <a:chOff x="0" y="0"/>
            <a:chExt cx="24384000" cy="21945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0D47A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182880"/>
            <a:ext cx="16824960" cy="1280160"/>
            <a:chOff x="0" y="0"/>
            <a:chExt cx="22433280" cy="17068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4332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089" r="0" b="-206089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22433280" cy="1792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Performance Analytics — Risk &amp; Return Metrics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35943" y="1907543"/>
            <a:ext cx="17216123" cy="1214123"/>
            <a:chOff x="0" y="0"/>
            <a:chExt cx="22954831" cy="161883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954869" cy="1618869"/>
            </a:xfrm>
            <a:custGeom>
              <a:avLst/>
              <a:gdLst/>
              <a:ahLst/>
              <a:cxnLst/>
              <a:rect r="r" b="b" t="t" l="l"/>
              <a:pathLst>
                <a:path h="1618869" w="22954869">
                  <a:moveTo>
                    <a:pt x="0" y="0"/>
                  </a:moveTo>
                  <a:lnTo>
                    <a:pt x="22954869" y="0"/>
                  </a:lnTo>
                  <a:lnTo>
                    <a:pt x="22954869" y="1618869"/>
                  </a:lnTo>
                  <a:lnTo>
                    <a:pt x="0" y="1618869"/>
                  </a:lnTo>
                  <a:close/>
                </a:path>
              </a:pathLst>
            </a:custGeom>
            <a:solidFill>
              <a:srgbClr val="EAF3FC"/>
            </a:solidFill>
            <a:ln w="25400" cap="sq">
              <a:solidFill>
                <a:srgbClr val="0D3B66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822960" y="2011680"/>
            <a:ext cx="3840480" cy="1005840"/>
            <a:chOff x="0" y="0"/>
            <a:chExt cx="5120640" cy="13411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1206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397" r="0" b="-24397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512064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D3B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CAGR (3yr)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663440" y="2066544"/>
            <a:ext cx="36576" cy="914400"/>
            <a:chOff x="0" y="0"/>
            <a:chExt cx="48768" cy="1219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8768" cy="1219200"/>
            </a:xfrm>
            <a:custGeom>
              <a:avLst/>
              <a:gdLst/>
              <a:ahLst/>
              <a:cxnLst/>
              <a:rect r="r" b="b" t="t" l="l"/>
              <a:pathLst>
                <a:path h="1219200" w="48768">
                  <a:moveTo>
                    <a:pt x="0" y="0"/>
                  </a:moveTo>
                  <a:lnTo>
                    <a:pt x="48768" y="0"/>
                  </a:lnTo>
                  <a:lnTo>
                    <a:pt x="48768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D6E9FA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846320" y="2011680"/>
            <a:ext cx="7498080" cy="1005840"/>
            <a:chOff x="0" y="0"/>
            <a:chExt cx="9997440" cy="13411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9974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252" r="0" b="-9525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999744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C5A7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(NAV_end/NAV_start)^(1/n) - 1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435840" y="2066544"/>
            <a:ext cx="36576" cy="914400"/>
            <a:chOff x="0" y="0"/>
            <a:chExt cx="48768" cy="1219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8768" cy="1219200"/>
            </a:xfrm>
            <a:custGeom>
              <a:avLst/>
              <a:gdLst/>
              <a:ahLst/>
              <a:cxnLst/>
              <a:rect r="r" b="b" t="t" l="l"/>
              <a:pathLst>
                <a:path h="1219200" w="48768">
                  <a:moveTo>
                    <a:pt x="0" y="0"/>
                  </a:moveTo>
                  <a:lnTo>
                    <a:pt x="48768" y="0"/>
                  </a:lnTo>
                  <a:lnTo>
                    <a:pt x="48768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D6E9FA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618720" y="2011680"/>
            <a:ext cx="4937760" cy="1005840"/>
            <a:chOff x="0" y="0"/>
            <a:chExt cx="6583680" cy="13411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5836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653" r="0" b="-45653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658368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D3B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Max: 23.39% (SBI Small Cap)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35943" y="3242567"/>
            <a:ext cx="17216123" cy="1214123"/>
            <a:chOff x="0" y="0"/>
            <a:chExt cx="22954831" cy="161883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954869" cy="1618869"/>
            </a:xfrm>
            <a:custGeom>
              <a:avLst/>
              <a:gdLst/>
              <a:ahLst/>
              <a:cxnLst/>
              <a:rect r="r" b="b" t="t" l="l"/>
              <a:pathLst>
                <a:path h="1618869" w="22954869">
                  <a:moveTo>
                    <a:pt x="0" y="0"/>
                  </a:moveTo>
                  <a:lnTo>
                    <a:pt x="22954869" y="0"/>
                  </a:lnTo>
                  <a:lnTo>
                    <a:pt x="22954869" y="1618869"/>
                  </a:lnTo>
                  <a:lnTo>
                    <a:pt x="0" y="1618869"/>
                  </a:lnTo>
                  <a:close/>
                </a:path>
              </a:pathLst>
            </a:custGeom>
            <a:solidFill>
              <a:srgbClr val="EAF3FC"/>
            </a:solidFill>
            <a:ln w="25400" cap="sq">
              <a:solidFill>
                <a:srgbClr val="1565C0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822960" y="3346704"/>
            <a:ext cx="3840480" cy="1005840"/>
            <a:chOff x="0" y="0"/>
            <a:chExt cx="5120640" cy="13411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1206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397" r="0" b="-24397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512064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565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Sharpe Ratio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4663440" y="3401568"/>
            <a:ext cx="36576" cy="914400"/>
            <a:chOff x="0" y="0"/>
            <a:chExt cx="48768" cy="12192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8768" cy="1219200"/>
            </a:xfrm>
            <a:custGeom>
              <a:avLst/>
              <a:gdLst/>
              <a:ahLst/>
              <a:cxnLst/>
              <a:rect r="r" b="b" t="t" l="l"/>
              <a:pathLst>
                <a:path h="1219200" w="48768">
                  <a:moveTo>
                    <a:pt x="0" y="0"/>
                  </a:moveTo>
                  <a:lnTo>
                    <a:pt x="48768" y="0"/>
                  </a:lnTo>
                  <a:lnTo>
                    <a:pt x="48768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D6E9FA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4846320" y="3346704"/>
            <a:ext cx="7498080" cy="1005840"/>
            <a:chOff x="0" y="0"/>
            <a:chExt cx="9997440" cy="13411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9974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252" r="0" b="-95252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999744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C5A7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(Rp - Rf) / σ × √252, Rf=6.5%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435840" y="3401568"/>
            <a:ext cx="36576" cy="914400"/>
            <a:chOff x="0" y="0"/>
            <a:chExt cx="48768" cy="12192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8768" cy="1219200"/>
            </a:xfrm>
            <a:custGeom>
              <a:avLst/>
              <a:gdLst/>
              <a:ahLst/>
              <a:cxnLst/>
              <a:rect r="r" b="b" t="t" l="l"/>
              <a:pathLst>
                <a:path h="1219200" w="48768">
                  <a:moveTo>
                    <a:pt x="0" y="0"/>
                  </a:moveTo>
                  <a:lnTo>
                    <a:pt x="48768" y="0"/>
                  </a:lnTo>
                  <a:lnTo>
                    <a:pt x="48768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D6E9FA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2618720" y="3346704"/>
            <a:ext cx="4937760" cy="1005840"/>
            <a:chOff x="0" y="0"/>
            <a:chExt cx="6583680" cy="13411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5836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653" r="0" b="-45653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658368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D3B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Avg: 1.362 across all funds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535943" y="4577591"/>
            <a:ext cx="17216123" cy="1214123"/>
            <a:chOff x="0" y="0"/>
            <a:chExt cx="22954831" cy="161883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2954869" cy="1618869"/>
            </a:xfrm>
            <a:custGeom>
              <a:avLst/>
              <a:gdLst/>
              <a:ahLst/>
              <a:cxnLst/>
              <a:rect r="r" b="b" t="t" l="l"/>
              <a:pathLst>
                <a:path h="1618869" w="22954869">
                  <a:moveTo>
                    <a:pt x="0" y="0"/>
                  </a:moveTo>
                  <a:lnTo>
                    <a:pt x="22954869" y="0"/>
                  </a:lnTo>
                  <a:lnTo>
                    <a:pt x="22954869" y="1618869"/>
                  </a:lnTo>
                  <a:lnTo>
                    <a:pt x="0" y="1618869"/>
                  </a:lnTo>
                  <a:close/>
                </a:path>
              </a:pathLst>
            </a:custGeom>
            <a:solidFill>
              <a:srgbClr val="EAF3FC"/>
            </a:solidFill>
            <a:ln w="25400" cap="sq">
              <a:solidFill>
                <a:srgbClr val="0D47A1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822960" y="4681728"/>
            <a:ext cx="3840480" cy="1005840"/>
            <a:chOff x="0" y="0"/>
            <a:chExt cx="5120640" cy="13411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1206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397" r="0" b="-24397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512064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D47A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Sortino Ratio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4663440" y="4736592"/>
            <a:ext cx="36576" cy="914400"/>
            <a:chOff x="0" y="0"/>
            <a:chExt cx="48768" cy="12192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8768" cy="1219200"/>
            </a:xfrm>
            <a:custGeom>
              <a:avLst/>
              <a:gdLst/>
              <a:ahLst/>
              <a:cxnLst/>
              <a:rect r="r" b="b" t="t" l="l"/>
              <a:pathLst>
                <a:path h="1219200" w="48768">
                  <a:moveTo>
                    <a:pt x="0" y="0"/>
                  </a:moveTo>
                  <a:lnTo>
                    <a:pt x="48768" y="0"/>
                  </a:lnTo>
                  <a:lnTo>
                    <a:pt x="48768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D6E9FA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4846320" y="4681728"/>
            <a:ext cx="7498080" cy="1005840"/>
            <a:chOff x="0" y="0"/>
            <a:chExt cx="9997440" cy="13411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9974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252" r="0" b="-95252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999744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C5A7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Sharpe using downside σ only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2435840" y="4736592"/>
            <a:ext cx="36576" cy="914400"/>
            <a:chOff x="0" y="0"/>
            <a:chExt cx="48768" cy="12192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8768" cy="1219200"/>
            </a:xfrm>
            <a:custGeom>
              <a:avLst/>
              <a:gdLst/>
              <a:ahLst/>
              <a:cxnLst/>
              <a:rect r="r" b="b" t="t" l="l"/>
              <a:pathLst>
                <a:path h="1219200" w="48768">
                  <a:moveTo>
                    <a:pt x="0" y="0"/>
                  </a:moveTo>
                  <a:lnTo>
                    <a:pt x="48768" y="0"/>
                  </a:lnTo>
                  <a:lnTo>
                    <a:pt x="48768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D6E9FA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2618720" y="4681728"/>
            <a:ext cx="4937760" cy="1005840"/>
            <a:chOff x="0" y="0"/>
            <a:chExt cx="6583680" cy="13411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5836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653" r="0" b="-45653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658368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D3B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Better for asymmetric returns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535943" y="5912615"/>
            <a:ext cx="17216123" cy="1214123"/>
            <a:chOff x="0" y="0"/>
            <a:chExt cx="22954831" cy="161883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2954869" cy="1618869"/>
            </a:xfrm>
            <a:custGeom>
              <a:avLst/>
              <a:gdLst/>
              <a:ahLst/>
              <a:cxnLst/>
              <a:rect r="r" b="b" t="t" l="l"/>
              <a:pathLst>
                <a:path h="1618869" w="22954869">
                  <a:moveTo>
                    <a:pt x="0" y="0"/>
                  </a:moveTo>
                  <a:lnTo>
                    <a:pt x="22954869" y="0"/>
                  </a:lnTo>
                  <a:lnTo>
                    <a:pt x="22954869" y="1618869"/>
                  </a:lnTo>
                  <a:lnTo>
                    <a:pt x="0" y="1618869"/>
                  </a:lnTo>
                  <a:close/>
                </a:path>
              </a:pathLst>
            </a:custGeom>
            <a:solidFill>
              <a:srgbClr val="EAF3FC"/>
            </a:solidFill>
            <a:ln w="25400" cap="sq">
              <a:solidFill>
                <a:srgbClr val="1976D2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822960" y="6016752"/>
            <a:ext cx="3840480" cy="1005840"/>
            <a:chOff x="0" y="0"/>
            <a:chExt cx="5120640" cy="134112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1206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397" r="0" b="-24397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512064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976D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Alpha (CAPM)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4663440" y="6071616"/>
            <a:ext cx="36576" cy="914400"/>
            <a:chOff x="0" y="0"/>
            <a:chExt cx="48768" cy="12192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8768" cy="1219200"/>
            </a:xfrm>
            <a:custGeom>
              <a:avLst/>
              <a:gdLst/>
              <a:ahLst/>
              <a:cxnLst/>
              <a:rect r="r" b="b" t="t" l="l"/>
              <a:pathLst>
                <a:path h="1219200" w="48768">
                  <a:moveTo>
                    <a:pt x="0" y="0"/>
                  </a:moveTo>
                  <a:lnTo>
                    <a:pt x="48768" y="0"/>
                  </a:lnTo>
                  <a:lnTo>
                    <a:pt x="48768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D6E9FA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4846320" y="6016752"/>
            <a:ext cx="7498080" cy="1005840"/>
            <a:chOff x="0" y="0"/>
            <a:chExt cx="9997440" cy="13411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9974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252" r="0" b="-95252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9525"/>
              <a:ext cx="999744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C5A7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OLS intercept × 252 vs NIFTY100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2435840" y="6071616"/>
            <a:ext cx="36576" cy="914400"/>
            <a:chOff x="0" y="0"/>
            <a:chExt cx="48768" cy="12192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8768" cy="1219200"/>
            </a:xfrm>
            <a:custGeom>
              <a:avLst/>
              <a:gdLst/>
              <a:ahLst/>
              <a:cxnLst/>
              <a:rect r="r" b="b" t="t" l="l"/>
              <a:pathLst>
                <a:path h="1219200" w="48768">
                  <a:moveTo>
                    <a:pt x="0" y="0"/>
                  </a:moveTo>
                  <a:lnTo>
                    <a:pt x="48768" y="0"/>
                  </a:lnTo>
                  <a:lnTo>
                    <a:pt x="48768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D6E9FA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2618720" y="6016752"/>
            <a:ext cx="4937760" cy="1005840"/>
            <a:chOff x="0" y="0"/>
            <a:chExt cx="6583680" cy="134112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5836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653" r="0" b="-45653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658368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D3B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Avg Alpha: +1.254% annualized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535943" y="7247639"/>
            <a:ext cx="17216123" cy="1214123"/>
            <a:chOff x="0" y="0"/>
            <a:chExt cx="22954831" cy="1618831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2954869" cy="1618869"/>
            </a:xfrm>
            <a:custGeom>
              <a:avLst/>
              <a:gdLst/>
              <a:ahLst/>
              <a:cxnLst/>
              <a:rect r="r" b="b" t="t" l="l"/>
              <a:pathLst>
                <a:path h="1618869" w="22954869">
                  <a:moveTo>
                    <a:pt x="0" y="0"/>
                  </a:moveTo>
                  <a:lnTo>
                    <a:pt x="22954869" y="0"/>
                  </a:lnTo>
                  <a:lnTo>
                    <a:pt x="22954869" y="1618869"/>
                  </a:lnTo>
                  <a:lnTo>
                    <a:pt x="0" y="1618869"/>
                  </a:lnTo>
                  <a:close/>
                </a:path>
              </a:pathLst>
            </a:custGeom>
            <a:solidFill>
              <a:srgbClr val="EAF3FC"/>
            </a:solidFill>
            <a:ln w="25400" cap="sq">
              <a:solidFill>
                <a:srgbClr val="283593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822960" y="7351776"/>
            <a:ext cx="3840480" cy="1005840"/>
            <a:chOff x="0" y="0"/>
            <a:chExt cx="5120640" cy="134112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1206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397" r="0" b="-24397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512064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2835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Beta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4663440" y="7406640"/>
            <a:ext cx="36576" cy="914400"/>
            <a:chOff x="0" y="0"/>
            <a:chExt cx="48768" cy="12192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48768" cy="1219200"/>
            </a:xfrm>
            <a:custGeom>
              <a:avLst/>
              <a:gdLst/>
              <a:ahLst/>
              <a:cxnLst/>
              <a:rect r="r" b="b" t="t" l="l"/>
              <a:pathLst>
                <a:path h="1219200" w="48768">
                  <a:moveTo>
                    <a:pt x="0" y="0"/>
                  </a:moveTo>
                  <a:lnTo>
                    <a:pt x="48768" y="0"/>
                  </a:lnTo>
                  <a:lnTo>
                    <a:pt x="48768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D6E9FA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4846320" y="7351776"/>
            <a:ext cx="7498080" cy="1005840"/>
            <a:chOff x="0" y="0"/>
            <a:chExt cx="9997440" cy="134112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99974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252" r="0" b="-95252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9525"/>
              <a:ext cx="999744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C5A7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OLS slope vs NIFTY100 returns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2435840" y="7406640"/>
            <a:ext cx="36576" cy="914400"/>
            <a:chOff x="0" y="0"/>
            <a:chExt cx="48768" cy="12192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8768" cy="1219200"/>
            </a:xfrm>
            <a:custGeom>
              <a:avLst/>
              <a:gdLst/>
              <a:ahLst/>
              <a:cxnLst/>
              <a:rect r="r" b="b" t="t" l="l"/>
              <a:pathLst>
                <a:path h="1219200" w="48768">
                  <a:moveTo>
                    <a:pt x="0" y="0"/>
                  </a:moveTo>
                  <a:lnTo>
                    <a:pt x="48768" y="0"/>
                  </a:lnTo>
                  <a:lnTo>
                    <a:pt x="48768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D6E9FA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2618720" y="7351776"/>
            <a:ext cx="4937760" cy="1005840"/>
            <a:chOff x="0" y="0"/>
            <a:chExt cx="6583680" cy="134112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65836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653" r="0" b="-45653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38100"/>
              <a:ext cx="658368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D3B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Avg Beta: 0.873 (defensive)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535943" y="8582663"/>
            <a:ext cx="17216123" cy="1214123"/>
            <a:chOff x="0" y="0"/>
            <a:chExt cx="22954831" cy="1618831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2954869" cy="1618869"/>
            </a:xfrm>
            <a:custGeom>
              <a:avLst/>
              <a:gdLst/>
              <a:ahLst/>
              <a:cxnLst/>
              <a:rect r="r" b="b" t="t" l="l"/>
              <a:pathLst>
                <a:path h="1618869" w="22954869">
                  <a:moveTo>
                    <a:pt x="0" y="0"/>
                  </a:moveTo>
                  <a:lnTo>
                    <a:pt x="22954869" y="0"/>
                  </a:lnTo>
                  <a:lnTo>
                    <a:pt x="22954869" y="1618869"/>
                  </a:lnTo>
                  <a:lnTo>
                    <a:pt x="0" y="1618869"/>
                  </a:lnTo>
                  <a:close/>
                </a:path>
              </a:pathLst>
            </a:custGeom>
            <a:solidFill>
              <a:srgbClr val="EAF3FC"/>
            </a:solidFill>
            <a:ln w="25400" cap="sq">
              <a:solidFill>
                <a:srgbClr val="2962FF"/>
              </a:solidFill>
              <a:prstDash val="solid"/>
              <a:miter/>
            </a:ln>
          </p:spPr>
        </p:sp>
      </p:grpSp>
      <p:grpSp>
        <p:nvGrpSpPr>
          <p:cNvPr name="Group 84" id="84"/>
          <p:cNvGrpSpPr/>
          <p:nvPr/>
        </p:nvGrpSpPr>
        <p:grpSpPr>
          <a:xfrm rot="0">
            <a:off x="822960" y="8686800"/>
            <a:ext cx="3840480" cy="1005840"/>
            <a:chOff x="0" y="0"/>
            <a:chExt cx="5120640" cy="134112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51206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397" r="0" b="-24397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512064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2962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Max Drawdown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4663440" y="8741664"/>
            <a:ext cx="36576" cy="914400"/>
            <a:chOff x="0" y="0"/>
            <a:chExt cx="48768" cy="121920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48768" cy="1219200"/>
            </a:xfrm>
            <a:custGeom>
              <a:avLst/>
              <a:gdLst/>
              <a:ahLst/>
              <a:cxnLst/>
              <a:rect r="r" b="b" t="t" l="l"/>
              <a:pathLst>
                <a:path h="1219200" w="48768">
                  <a:moveTo>
                    <a:pt x="0" y="0"/>
                  </a:moveTo>
                  <a:lnTo>
                    <a:pt x="48768" y="0"/>
                  </a:lnTo>
                  <a:lnTo>
                    <a:pt x="48768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D6E9FA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4846320" y="8686800"/>
            <a:ext cx="7498080" cy="1005840"/>
            <a:chOff x="0" y="0"/>
            <a:chExt cx="9997440" cy="134112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99974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252" r="0" b="-95252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9525"/>
              <a:ext cx="999744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C5A7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min(NAV/running_max - 1)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2435840" y="8741664"/>
            <a:ext cx="36576" cy="914400"/>
            <a:chOff x="0" y="0"/>
            <a:chExt cx="48768" cy="121920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48768" cy="1219200"/>
            </a:xfrm>
            <a:custGeom>
              <a:avLst/>
              <a:gdLst/>
              <a:ahLst/>
              <a:cxnLst/>
              <a:rect r="r" b="b" t="t" l="l"/>
              <a:pathLst>
                <a:path h="1219200" w="48768">
                  <a:moveTo>
                    <a:pt x="0" y="0"/>
                  </a:moveTo>
                  <a:lnTo>
                    <a:pt x="48768" y="0"/>
                  </a:lnTo>
                  <a:lnTo>
                    <a:pt x="48768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D6E9FA"/>
            </a:solid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12618720" y="8686800"/>
            <a:ext cx="4937760" cy="1005840"/>
            <a:chOff x="0" y="0"/>
            <a:chExt cx="6583680" cy="134112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65836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653" r="0" b="-45653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38100"/>
              <a:ext cx="658368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D3B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Avg: -19.20% across all funds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645920"/>
            <a:chOff x="0" y="0"/>
            <a:chExt cx="24384000" cy="21945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182880"/>
            <a:ext cx="16824960" cy="1280160"/>
            <a:chOff x="0" y="0"/>
            <a:chExt cx="22433280" cy="17068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4332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089" r="0" b="-206089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22433280" cy="1792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Fund Scorecard — Composite 0–100 Ranking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31520" y="1828800"/>
            <a:ext cx="16824960" cy="731520"/>
            <a:chOff x="0" y="0"/>
            <a:chExt cx="22433280" cy="9753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433280" cy="975360"/>
            </a:xfrm>
            <a:custGeom>
              <a:avLst/>
              <a:gdLst/>
              <a:ahLst/>
              <a:cxnLst/>
              <a:rect r="r" b="b" t="t" l="l"/>
              <a:pathLst>
                <a:path h="9753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8155" r="0" b="-39815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243328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565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Scoring Formula (Weighted Percentile Ranks):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23237" y="2626357"/>
            <a:ext cx="3251197" cy="1696717"/>
            <a:chOff x="0" y="0"/>
            <a:chExt cx="4334929" cy="226228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34891" cy="2262251"/>
            </a:xfrm>
            <a:custGeom>
              <a:avLst/>
              <a:gdLst/>
              <a:ahLst/>
              <a:cxnLst/>
              <a:rect r="r" b="b" t="t" l="l"/>
              <a:pathLst>
                <a:path h="2262251" w="4334891">
                  <a:moveTo>
                    <a:pt x="0" y="0"/>
                  </a:moveTo>
                  <a:lnTo>
                    <a:pt x="4334891" y="0"/>
                  </a:lnTo>
                  <a:lnTo>
                    <a:pt x="4334891" y="2262251"/>
                  </a:lnTo>
                  <a:lnTo>
                    <a:pt x="0" y="2262251"/>
                  </a:lnTo>
                  <a:close/>
                </a:path>
              </a:pathLst>
            </a:custGeom>
            <a:solidFill>
              <a:srgbClr val="EAF3FC"/>
            </a:solidFill>
            <a:ln w="50800" cap="sq">
              <a:solidFill>
                <a:srgbClr val="0D3B66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548640" y="2743200"/>
            <a:ext cx="3200400" cy="822960"/>
            <a:chOff x="0" y="0"/>
            <a:chExt cx="4267200" cy="10972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267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775" r="0" b="-2577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76200"/>
              <a:ext cx="426720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0D3B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30%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48640" y="3529584"/>
            <a:ext cx="3200400" cy="694944"/>
            <a:chOff x="0" y="0"/>
            <a:chExt cx="4267200" cy="92659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267200" cy="926592"/>
            </a:xfrm>
            <a:custGeom>
              <a:avLst/>
              <a:gdLst/>
              <a:ahLst/>
              <a:cxnLst/>
              <a:rect r="r" b="b" t="t" l="l"/>
              <a:pathLst>
                <a:path h="926592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733" r="0" b="-3973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26720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0D3B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3yr CAGR Rank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3997957" y="2626357"/>
            <a:ext cx="3251197" cy="1696717"/>
            <a:chOff x="0" y="0"/>
            <a:chExt cx="4334929" cy="226228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334891" cy="2262251"/>
            </a:xfrm>
            <a:custGeom>
              <a:avLst/>
              <a:gdLst/>
              <a:ahLst/>
              <a:cxnLst/>
              <a:rect r="r" b="b" t="t" l="l"/>
              <a:pathLst>
                <a:path h="2262251" w="4334891">
                  <a:moveTo>
                    <a:pt x="0" y="0"/>
                  </a:moveTo>
                  <a:lnTo>
                    <a:pt x="4334891" y="0"/>
                  </a:lnTo>
                  <a:lnTo>
                    <a:pt x="4334891" y="2262251"/>
                  </a:lnTo>
                  <a:lnTo>
                    <a:pt x="0" y="2262251"/>
                  </a:lnTo>
                  <a:close/>
                </a:path>
              </a:pathLst>
            </a:custGeom>
            <a:solidFill>
              <a:srgbClr val="EAF3FC"/>
            </a:solidFill>
            <a:ln w="50800" cap="sq">
              <a:solidFill>
                <a:srgbClr val="1565C0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4023360" y="2743200"/>
            <a:ext cx="3200400" cy="822960"/>
            <a:chOff x="0" y="0"/>
            <a:chExt cx="4267200" cy="10972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267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775" r="0" b="-2577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76200"/>
              <a:ext cx="426720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1565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25%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023360" y="3529584"/>
            <a:ext cx="3200400" cy="694944"/>
            <a:chOff x="0" y="0"/>
            <a:chExt cx="4267200" cy="92659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267200" cy="926592"/>
            </a:xfrm>
            <a:custGeom>
              <a:avLst/>
              <a:gdLst/>
              <a:ahLst/>
              <a:cxnLst/>
              <a:rect r="r" b="b" t="t" l="l"/>
              <a:pathLst>
                <a:path h="926592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733" r="0" b="-3973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426720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0D3B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Sharpe Ratio Rank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472677" y="2626357"/>
            <a:ext cx="3251197" cy="1696717"/>
            <a:chOff x="0" y="0"/>
            <a:chExt cx="4334929" cy="226228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334891" cy="2262251"/>
            </a:xfrm>
            <a:custGeom>
              <a:avLst/>
              <a:gdLst/>
              <a:ahLst/>
              <a:cxnLst/>
              <a:rect r="r" b="b" t="t" l="l"/>
              <a:pathLst>
                <a:path h="2262251" w="4334891">
                  <a:moveTo>
                    <a:pt x="0" y="0"/>
                  </a:moveTo>
                  <a:lnTo>
                    <a:pt x="4334891" y="0"/>
                  </a:lnTo>
                  <a:lnTo>
                    <a:pt x="4334891" y="2262251"/>
                  </a:lnTo>
                  <a:lnTo>
                    <a:pt x="0" y="2262251"/>
                  </a:lnTo>
                  <a:close/>
                </a:path>
              </a:pathLst>
            </a:custGeom>
            <a:solidFill>
              <a:srgbClr val="EAF3FC"/>
            </a:solidFill>
            <a:ln w="50800" cap="sq">
              <a:solidFill>
                <a:srgbClr val="0D47A1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7498080" y="2743200"/>
            <a:ext cx="3200400" cy="822960"/>
            <a:chOff x="0" y="0"/>
            <a:chExt cx="4267200" cy="10972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267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775" r="0" b="-2577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76200"/>
              <a:ext cx="426720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0D47A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20%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7498080" y="3529584"/>
            <a:ext cx="3200400" cy="694944"/>
            <a:chOff x="0" y="0"/>
            <a:chExt cx="4267200" cy="92659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267200" cy="926592"/>
            </a:xfrm>
            <a:custGeom>
              <a:avLst/>
              <a:gdLst/>
              <a:ahLst/>
              <a:cxnLst/>
              <a:rect r="r" b="b" t="t" l="l"/>
              <a:pathLst>
                <a:path h="926592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733" r="0" b="-39733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426720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0D3B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Alpha Rank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947397" y="2626357"/>
            <a:ext cx="3251197" cy="1696717"/>
            <a:chOff x="0" y="0"/>
            <a:chExt cx="4334929" cy="226228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334891" cy="2262251"/>
            </a:xfrm>
            <a:custGeom>
              <a:avLst/>
              <a:gdLst/>
              <a:ahLst/>
              <a:cxnLst/>
              <a:rect r="r" b="b" t="t" l="l"/>
              <a:pathLst>
                <a:path h="2262251" w="4334891">
                  <a:moveTo>
                    <a:pt x="0" y="0"/>
                  </a:moveTo>
                  <a:lnTo>
                    <a:pt x="4334891" y="0"/>
                  </a:lnTo>
                  <a:lnTo>
                    <a:pt x="4334891" y="2262251"/>
                  </a:lnTo>
                  <a:lnTo>
                    <a:pt x="0" y="2262251"/>
                  </a:lnTo>
                  <a:close/>
                </a:path>
              </a:pathLst>
            </a:custGeom>
            <a:solidFill>
              <a:srgbClr val="EAF3FC"/>
            </a:solidFill>
            <a:ln w="50800" cap="sq">
              <a:solidFill>
                <a:srgbClr val="1976D2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0972800" y="2743200"/>
            <a:ext cx="3200400" cy="822960"/>
            <a:chOff x="0" y="0"/>
            <a:chExt cx="4267200" cy="10972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267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775" r="0" b="-25775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76200"/>
              <a:ext cx="426720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1976D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15%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0972800" y="3529584"/>
            <a:ext cx="3200400" cy="694944"/>
            <a:chOff x="0" y="0"/>
            <a:chExt cx="4267200" cy="92659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267200" cy="926592"/>
            </a:xfrm>
            <a:custGeom>
              <a:avLst/>
              <a:gdLst/>
              <a:ahLst/>
              <a:cxnLst/>
              <a:rect r="r" b="b" t="t" l="l"/>
              <a:pathLst>
                <a:path h="926592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733" r="0" b="-39733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426720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0D3B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Expense Ratio Rank (inverse)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4422117" y="2626357"/>
            <a:ext cx="3251197" cy="1696717"/>
            <a:chOff x="0" y="0"/>
            <a:chExt cx="4334929" cy="226228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334891" cy="2262251"/>
            </a:xfrm>
            <a:custGeom>
              <a:avLst/>
              <a:gdLst/>
              <a:ahLst/>
              <a:cxnLst/>
              <a:rect r="r" b="b" t="t" l="l"/>
              <a:pathLst>
                <a:path h="2262251" w="4334891">
                  <a:moveTo>
                    <a:pt x="0" y="0"/>
                  </a:moveTo>
                  <a:lnTo>
                    <a:pt x="4334891" y="0"/>
                  </a:lnTo>
                  <a:lnTo>
                    <a:pt x="4334891" y="2262251"/>
                  </a:lnTo>
                  <a:lnTo>
                    <a:pt x="0" y="2262251"/>
                  </a:lnTo>
                  <a:close/>
                </a:path>
              </a:pathLst>
            </a:custGeom>
            <a:solidFill>
              <a:srgbClr val="EAF3FC"/>
            </a:solidFill>
            <a:ln w="50800" cap="sq">
              <a:solidFill>
                <a:srgbClr val="283593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4447520" y="2743200"/>
            <a:ext cx="3200400" cy="822960"/>
            <a:chOff x="0" y="0"/>
            <a:chExt cx="4267200" cy="10972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267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775" r="0" b="-2577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76200"/>
              <a:ext cx="426720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2835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10%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4447520" y="3529584"/>
            <a:ext cx="3200400" cy="694944"/>
            <a:chOff x="0" y="0"/>
            <a:chExt cx="4267200" cy="92659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267200" cy="926592"/>
            </a:xfrm>
            <a:custGeom>
              <a:avLst/>
              <a:gdLst/>
              <a:ahLst/>
              <a:cxnLst/>
              <a:rect r="r" b="b" t="t" l="l"/>
              <a:pathLst>
                <a:path h="926592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733" r="0" b="-39733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426720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0D3B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Max Drawdown Rank (inverse)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731520" y="4754880"/>
            <a:ext cx="16459200" cy="640080"/>
            <a:chOff x="0" y="0"/>
            <a:chExt cx="21945600" cy="8534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57150"/>
              <a:ext cx="2194560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565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Top 5 Funds by Composite Score: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548640" y="5486400"/>
            <a:ext cx="17190720" cy="694944"/>
            <a:chOff x="0" y="0"/>
            <a:chExt cx="22920960" cy="92659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2920961" cy="926592"/>
            </a:xfrm>
            <a:custGeom>
              <a:avLst/>
              <a:gdLst/>
              <a:ahLst/>
              <a:cxnLst/>
              <a:rect r="r" b="b" t="t" l="l"/>
              <a:pathLst>
                <a:path h="926592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548640" y="5577840"/>
            <a:ext cx="822960" cy="512064"/>
            <a:chOff x="0" y="0"/>
            <a:chExt cx="1097280" cy="68275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97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833" t="0" r="-29833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10972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Rank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371600" y="5577840"/>
            <a:ext cx="5852160" cy="512064"/>
            <a:chOff x="0" y="0"/>
            <a:chExt cx="7802880" cy="68275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802880" cy="682752"/>
            </a:xfrm>
            <a:custGeom>
              <a:avLst/>
              <a:gdLst/>
              <a:ahLst/>
              <a:cxnLst/>
              <a:rect r="r" b="b" t="t" l="l"/>
              <a:pathLst>
                <a:path h="682752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78028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Fund Name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7223760" y="5577840"/>
            <a:ext cx="2560320" cy="512064"/>
            <a:chOff x="0" y="0"/>
            <a:chExt cx="3413760" cy="68275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413760" cy="682752"/>
            </a:xfrm>
            <a:custGeom>
              <a:avLst/>
              <a:gdLst/>
              <a:ahLst/>
              <a:cxnLst/>
              <a:rect r="r" b="b" t="t" l="l"/>
              <a:pathLst>
                <a:path h="682752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34137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Category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9784080" y="5577840"/>
            <a:ext cx="1280160" cy="512064"/>
            <a:chOff x="0" y="0"/>
            <a:chExt cx="1706880" cy="68275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706880" cy="682752"/>
            </a:xfrm>
            <a:custGeom>
              <a:avLst/>
              <a:gdLst/>
              <a:ahLst/>
              <a:cxnLst/>
              <a:rect r="r" b="b" t="t" l="l"/>
              <a:pathLst>
                <a:path h="682752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17068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Score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1064240" y="5577840"/>
            <a:ext cx="1280160" cy="512064"/>
            <a:chOff x="0" y="0"/>
            <a:chExt cx="1706880" cy="68275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706880" cy="682752"/>
            </a:xfrm>
            <a:custGeom>
              <a:avLst/>
              <a:gdLst/>
              <a:ahLst/>
              <a:cxnLst/>
              <a:rect r="r" b="b" t="t" l="l"/>
              <a:pathLst>
                <a:path h="682752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17068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Sharpe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2344400" y="5577840"/>
            <a:ext cx="1737360" cy="512064"/>
            <a:chOff x="0" y="0"/>
            <a:chExt cx="2316480" cy="68275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316480" cy="682752"/>
            </a:xfrm>
            <a:custGeom>
              <a:avLst/>
              <a:gdLst/>
              <a:ahLst/>
              <a:cxnLst/>
              <a:rect r="r" b="b" t="t" l="l"/>
              <a:pathLst>
                <a:path h="682752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09" r="0" b="-16109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23164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3yr Return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4081760" y="5577840"/>
            <a:ext cx="1463040" cy="512064"/>
            <a:chOff x="0" y="0"/>
            <a:chExt cx="1950720" cy="682752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950720" cy="682752"/>
            </a:xfrm>
            <a:custGeom>
              <a:avLst/>
              <a:gdLst/>
              <a:ahLst/>
              <a:cxnLst/>
              <a:rect r="r" b="b" t="t" l="l"/>
              <a:pathLst>
                <a:path h="682752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71" r="0" b="-5671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19507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Expense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542287" y="6248143"/>
            <a:ext cx="17203417" cy="671065"/>
            <a:chOff x="0" y="0"/>
            <a:chExt cx="22937889" cy="894753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2937851" cy="894715"/>
            </a:xfrm>
            <a:custGeom>
              <a:avLst/>
              <a:gdLst/>
              <a:ahLst/>
              <a:cxnLst/>
              <a:rect r="r" b="b" t="t" l="l"/>
              <a:pathLst>
                <a:path h="894715" w="22937851">
                  <a:moveTo>
                    <a:pt x="0" y="0"/>
                  </a:moveTo>
                  <a:lnTo>
                    <a:pt x="22937851" y="0"/>
                  </a:lnTo>
                  <a:lnTo>
                    <a:pt x="22937851" y="894715"/>
                  </a:lnTo>
                  <a:lnTo>
                    <a:pt x="0" y="894715"/>
                  </a:lnTo>
                  <a:close/>
                </a:path>
              </a:pathLst>
            </a:custGeom>
            <a:solidFill>
              <a:srgbClr val="EAF3FC"/>
            </a:solidFill>
            <a:ln w="12700" cap="sq">
              <a:solidFill>
                <a:srgbClr val="D6E9FA"/>
              </a:solidFill>
              <a:prstDash val="solid"/>
              <a:miter/>
            </a:ln>
          </p:spPr>
        </p:sp>
      </p:grpSp>
      <p:grpSp>
        <p:nvGrpSpPr>
          <p:cNvPr name="Group 78" id="78"/>
          <p:cNvGrpSpPr/>
          <p:nvPr/>
        </p:nvGrpSpPr>
        <p:grpSpPr>
          <a:xfrm rot="0">
            <a:off x="548640" y="6345936"/>
            <a:ext cx="822960" cy="475488"/>
            <a:chOff x="0" y="0"/>
            <a:chExt cx="1097280" cy="633984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097280" cy="633984"/>
            </a:xfrm>
            <a:custGeom>
              <a:avLst/>
              <a:gdLst/>
              <a:ahLst/>
              <a:cxnLst/>
              <a:rect r="r" b="b" t="t" l="l"/>
              <a:pathLst>
                <a:path h="633984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130" t="0" r="-24130" b="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109728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1565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#1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371600" y="6345936"/>
            <a:ext cx="5852160" cy="475488"/>
            <a:chOff x="0" y="0"/>
            <a:chExt cx="7802880" cy="633984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7802880" cy="633984"/>
            </a:xfrm>
            <a:custGeom>
              <a:avLst/>
              <a:gdLst/>
              <a:ahLst/>
              <a:cxnLst/>
              <a:rect r="r" b="b" t="t" l="l"/>
              <a:pathLst>
                <a:path h="633984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815" r="0" b="-189815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780288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0D3B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Mirae Asset Emerging Bluechip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7223760" y="6345936"/>
            <a:ext cx="2560320" cy="475488"/>
            <a:chOff x="0" y="0"/>
            <a:chExt cx="3413760" cy="633984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3413760" cy="633984"/>
            </a:xfrm>
            <a:custGeom>
              <a:avLst/>
              <a:gdLst/>
              <a:ahLst/>
              <a:cxnLst/>
              <a:rect r="r" b="b" t="t" l="l"/>
              <a:pathLst>
                <a:path h="633984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919" r="0" b="-54919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341376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Large &amp; Mid Cap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9784080" y="6345936"/>
            <a:ext cx="1280160" cy="475488"/>
            <a:chOff x="0" y="0"/>
            <a:chExt cx="1706880" cy="633984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706880" cy="633984"/>
            </a:xfrm>
            <a:custGeom>
              <a:avLst/>
              <a:gdLst/>
              <a:ahLst/>
              <a:cxnLst/>
              <a:rect r="r" b="b" t="t" l="l"/>
              <a:pathLst>
                <a:path h="633984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9" r="0" b="-2459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38100"/>
              <a:ext cx="170688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0D47A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87.4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1064240" y="6345936"/>
            <a:ext cx="1280160" cy="475488"/>
            <a:chOff x="0" y="0"/>
            <a:chExt cx="1706880" cy="633984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706880" cy="633984"/>
            </a:xfrm>
            <a:custGeom>
              <a:avLst/>
              <a:gdLst/>
              <a:ahLst/>
              <a:cxnLst/>
              <a:rect r="r" b="b" t="t" l="l"/>
              <a:pathLst>
                <a:path h="633984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9" r="0" b="-2459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38100"/>
              <a:ext cx="170688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1976D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1.82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2344400" y="6345936"/>
            <a:ext cx="1737360" cy="475488"/>
            <a:chOff x="0" y="0"/>
            <a:chExt cx="2316480" cy="633984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2316480" cy="633984"/>
            </a:xfrm>
            <a:custGeom>
              <a:avLst/>
              <a:gdLst/>
              <a:ahLst/>
              <a:cxnLst/>
              <a:rect r="r" b="b" t="t" l="l"/>
              <a:pathLst>
                <a:path h="633984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95" r="0" b="-21195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38100"/>
              <a:ext cx="231648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28359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21.5%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4081760" y="6345936"/>
            <a:ext cx="1463040" cy="475488"/>
            <a:chOff x="0" y="0"/>
            <a:chExt cx="1950720" cy="633984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950720" cy="633984"/>
            </a:xfrm>
            <a:custGeom>
              <a:avLst/>
              <a:gdLst/>
              <a:ahLst/>
              <a:cxnLst/>
              <a:rect r="r" b="b" t="t" l="l"/>
              <a:pathLst>
                <a:path h="633984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38100"/>
              <a:ext cx="195072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2962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0.72%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542287" y="6943087"/>
            <a:ext cx="17203417" cy="671065"/>
            <a:chOff x="0" y="0"/>
            <a:chExt cx="22937889" cy="894753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22937851" cy="894715"/>
            </a:xfrm>
            <a:custGeom>
              <a:avLst/>
              <a:gdLst/>
              <a:ahLst/>
              <a:cxnLst/>
              <a:rect r="r" b="b" t="t" l="l"/>
              <a:pathLst>
                <a:path h="894715" w="22937851">
                  <a:moveTo>
                    <a:pt x="0" y="0"/>
                  </a:moveTo>
                  <a:lnTo>
                    <a:pt x="22937851" y="0"/>
                  </a:lnTo>
                  <a:lnTo>
                    <a:pt x="22937851" y="894715"/>
                  </a:lnTo>
                  <a:lnTo>
                    <a:pt x="0" y="894715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6E9FA"/>
              </a:solidFill>
              <a:prstDash val="solid"/>
              <a:miter/>
            </a:ln>
          </p:spPr>
        </p:sp>
      </p:grpSp>
      <p:grpSp>
        <p:nvGrpSpPr>
          <p:cNvPr name="Group 101" id="101"/>
          <p:cNvGrpSpPr/>
          <p:nvPr/>
        </p:nvGrpSpPr>
        <p:grpSpPr>
          <a:xfrm rot="0">
            <a:off x="548640" y="7040880"/>
            <a:ext cx="822960" cy="475488"/>
            <a:chOff x="0" y="0"/>
            <a:chExt cx="1097280" cy="633984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097280" cy="633984"/>
            </a:xfrm>
            <a:custGeom>
              <a:avLst/>
              <a:gdLst/>
              <a:ahLst/>
              <a:cxnLst/>
              <a:rect r="r" b="b" t="t" l="l"/>
              <a:pathLst>
                <a:path h="633984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130" t="0" r="-24130" b="0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109728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1565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#2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371600" y="7040880"/>
            <a:ext cx="5852160" cy="475488"/>
            <a:chOff x="0" y="0"/>
            <a:chExt cx="7802880" cy="633984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7802880" cy="633984"/>
            </a:xfrm>
            <a:custGeom>
              <a:avLst/>
              <a:gdLst/>
              <a:ahLst/>
              <a:cxnLst/>
              <a:rect r="r" b="b" t="t" l="l"/>
              <a:pathLst>
                <a:path h="633984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815" r="0" b="-189815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780288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0D3B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SBI Small Cap Direct Growth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7223760" y="7040880"/>
            <a:ext cx="2560320" cy="475488"/>
            <a:chOff x="0" y="0"/>
            <a:chExt cx="3413760" cy="633984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413760" cy="633984"/>
            </a:xfrm>
            <a:custGeom>
              <a:avLst/>
              <a:gdLst/>
              <a:ahLst/>
              <a:cxnLst/>
              <a:rect r="r" b="b" t="t" l="l"/>
              <a:pathLst>
                <a:path h="633984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919" r="0" b="-54919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38100"/>
              <a:ext cx="341376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Small Cap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9784080" y="7040880"/>
            <a:ext cx="1280160" cy="475488"/>
            <a:chOff x="0" y="0"/>
            <a:chExt cx="1706880" cy="633984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706880" cy="633984"/>
            </a:xfrm>
            <a:custGeom>
              <a:avLst/>
              <a:gdLst/>
              <a:ahLst/>
              <a:cxnLst/>
              <a:rect r="r" b="b" t="t" l="l"/>
              <a:pathLst>
                <a:path h="633984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9" r="0" b="-2459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170688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0D47A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84.2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1064240" y="7040880"/>
            <a:ext cx="1280160" cy="475488"/>
            <a:chOff x="0" y="0"/>
            <a:chExt cx="1706880" cy="633984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1706880" cy="633984"/>
            </a:xfrm>
            <a:custGeom>
              <a:avLst/>
              <a:gdLst/>
              <a:ahLst/>
              <a:cxnLst/>
              <a:rect r="r" b="b" t="t" l="l"/>
              <a:pathLst>
                <a:path h="633984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9" r="0" b="-2459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38100"/>
              <a:ext cx="170688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1976D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1.65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12344400" y="7040880"/>
            <a:ext cx="1737360" cy="475488"/>
            <a:chOff x="0" y="0"/>
            <a:chExt cx="2316480" cy="633984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2316480" cy="633984"/>
            </a:xfrm>
            <a:custGeom>
              <a:avLst/>
              <a:gdLst/>
              <a:ahLst/>
              <a:cxnLst/>
              <a:rect r="r" b="b" t="t" l="l"/>
              <a:pathLst>
                <a:path h="633984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95" r="0" b="-21195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38100"/>
              <a:ext cx="231648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28359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23.4%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4081760" y="7040880"/>
            <a:ext cx="1463040" cy="475488"/>
            <a:chOff x="0" y="0"/>
            <a:chExt cx="1950720" cy="633984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1950720" cy="633984"/>
            </a:xfrm>
            <a:custGeom>
              <a:avLst/>
              <a:gdLst/>
              <a:ahLst/>
              <a:cxnLst/>
              <a:rect r="r" b="b" t="t" l="l"/>
              <a:pathLst>
                <a:path h="633984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38100"/>
              <a:ext cx="195072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2962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0.79%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542287" y="7638031"/>
            <a:ext cx="17203417" cy="671065"/>
            <a:chOff x="0" y="0"/>
            <a:chExt cx="22937889" cy="894753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22937851" cy="894715"/>
            </a:xfrm>
            <a:custGeom>
              <a:avLst/>
              <a:gdLst/>
              <a:ahLst/>
              <a:cxnLst/>
              <a:rect r="r" b="b" t="t" l="l"/>
              <a:pathLst>
                <a:path h="894715" w="22937851">
                  <a:moveTo>
                    <a:pt x="0" y="0"/>
                  </a:moveTo>
                  <a:lnTo>
                    <a:pt x="22937851" y="0"/>
                  </a:lnTo>
                  <a:lnTo>
                    <a:pt x="22937851" y="894715"/>
                  </a:lnTo>
                  <a:lnTo>
                    <a:pt x="0" y="894715"/>
                  </a:lnTo>
                  <a:close/>
                </a:path>
              </a:pathLst>
            </a:custGeom>
            <a:solidFill>
              <a:srgbClr val="EAF3FC"/>
            </a:solidFill>
            <a:ln w="12700" cap="sq">
              <a:solidFill>
                <a:srgbClr val="D6E9FA"/>
              </a:solidFill>
              <a:prstDash val="solid"/>
              <a:miter/>
            </a:ln>
          </p:spPr>
        </p:sp>
      </p:grpSp>
      <p:grpSp>
        <p:nvGrpSpPr>
          <p:cNvPr name="Group 124" id="124"/>
          <p:cNvGrpSpPr/>
          <p:nvPr/>
        </p:nvGrpSpPr>
        <p:grpSpPr>
          <a:xfrm rot="0">
            <a:off x="548640" y="7735824"/>
            <a:ext cx="822960" cy="475488"/>
            <a:chOff x="0" y="0"/>
            <a:chExt cx="1097280" cy="633984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1097280" cy="633984"/>
            </a:xfrm>
            <a:custGeom>
              <a:avLst/>
              <a:gdLst/>
              <a:ahLst/>
              <a:cxnLst/>
              <a:rect r="r" b="b" t="t" l="l"/>
              <a:pathLst>
                <a:path h="633984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130" t="0" r="-24130" b="0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38100"/>
              <a:ext cx="109728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1565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#3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1371600" y="7735824"/>
            <a:ext cx="5852160" cy="475488"/>
            <a:chOff x="0" y="0"/>
            <a:chExt cx="7802880" cy="633984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7802880" cy="633984"/>
            </a:xfrm>
            <a:custGeom>
              <a:avLst/>
              <a:gdLst/>
              <a:ahLst/>
              <a:cxnLst/>
              <a:rect r="r" b="b" t="t" l="l"/>
              <a:pathLst>
                <a:path h="633984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815" r="0" b="-189815"/>
              </a:stretch>
            </a:blipFill>
          </p:spPr>
        </p:sp>
        <p:sp>
          <p:nvSpPr>
            <p:cNvPr name="TextBox 129" id="129"/>
            <p:cNvSpPr txBox="true"/>
            <p:nvPr/>
          </p:nvSpPr>
          <p:spPr>
            <a:xfrm>
              <a:off x="0" y="-38100"/>
              <a:ext cx="780288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0D3B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ICICI Pru Bluechip Direct</a:t>
              </a:r>
            </a:p>
          </p:txBody>
        </p:sp>
      </p:grpSp>
      <p:grpSp>
        <p:nvGrpSpPr>
          <p:cNvPr name="Group 130" id="130"/>
          <p:cNvGrpSpPr/>
          <p:nvPr/>
        </p:nvGrpSpPr>
        <p:grpSpPr>
          <a:xfrm rot="0">
            <a:off x="7223760" y="7735824"/>
            <a:ext cx="2560320" cy="475488"/>
            <a:chOff x="0" y="0"/>
            <a:chExt cx="3413760" cy="633984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3413760" cy="633984"/>
            </a:xfrm>
            <a:custGeom>
              <a:avLst/>
              <a:gdLst/>
              <a:ahLst/>
              <a:cxnLst/>
              <a:rect r="r" b="b" t="t" l="l"/>
              <a:pathLst>
                <a:path h="633984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919" r="0" b="-54919"/>
              </a:stretch>
            </a:blipFill>
          </p:spPr>
        </p:sp>
        <p:sp>
          <p:nvSpPr>
            <p:cNvPr name="TextBox 132" id="132"/>
            <p:cNvSpPr txBox="true"/>
            <p:nvPr/>
          </p:nvSpPr>
          <p:spPr>
            <a:xfrm>
              <a:off x="0" y="-38100"/>
              <a:ext cx="341376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Large Cap</a:t>
              </a:r>
            </a:p>
          </p:txBody>
        </p:sp>
      </p:grpSp>
      <p:grpSp>
        <p:nvGrpSpPr>
          <p:cNvPr name="Group 133" id="133"/>
          <p:cNvGrpSpPr/>
          <p:nvPr/>
        </p:nvGrpSpPr>
        <p:grpSpPr>
          <a:xfrm rot="0">
            <a:off x="9784080" y="7735824"/>
            <a:ext cx="1280160" cy="475488"/>
            <a:chOff x="0" y="0"/>
            <a:chExt cx="1706880" cy="633984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1706880" cy="633984"/>
            </a:xfrm>
            <a:custGeom>
              <a:avLst/>
              <a:gdLst/>
              <a:ahLst/>
              <a:cxnLst/>
              <a:rect r="r" b="b" t="t" l="l"/>
              <a:pathLst>
                <a:path h="633984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9" r="0" b="-2459"/>
              </a:stretch>
            </a:blipFill>
          </p:spPr>
        </p:sp>
        <p:sp>
          <p:nvSpPr>
            <p:cNvPr name="TextBox 135" id="135"/>
            <p:cNvSpPr txBox="true"/>
            <p:nvPr/>
          </p:nvSpPr>
          <p:spPr>
            <a:xfrm>
              <a:off x="0" y="-38100"/>
              <a:ext cx="170688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0D47A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81.8</a:t>
              </a:r>
            </a:p>
          </p:txBody>
        </p:sp>
      </p:grpSp>
      <p:grpSp>
        <p:nvGrpSpPr>
          <p:cNvPr name="Group 136" id="136"/>
          <p:cNvGrpSpPr/>
          <p:nvPr/>
        </p:nvGrpSpPr>
        <p:grpSpPr>
          <a:xfrm rot="0">
            <a:off x="11064240" y="7735824"/>
            <a:ext cx="1280160" cy="475488"/>
            <a:chOff x="0" y="0"/>
            <a:chExt cx="1706880" cy="633984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1706880" cy="633984"/>
            </a:xfrm>
            <a:custGeom>
              <a:avLst/>
              <a:gdLst/>
              <a:ahLst/>
              <a:cxnLst/>
              <a:rect r="r" b="b" t="t" l="l"/>
              <a:pathLst>
                <a:path h="633984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9" r="0" b="-2459"/>
              </a:stretch>
            </a:blipFill>
          </p:spPr>
        </p:sp>
        <p:sp>
          <p:nvSpPr>
            <p:cNvPr name="TextBox 138" id="138"/>
            <p:cNvSpPr txBox="true"/>
            <p:nvPr/>
          </p:nvSpPr>
          <p:spPr>
            <a:xfrm>
              <a:off x="0" y="-38100"/>
              <a:ext cx="170688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1976D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1.71</a:t>
              </a:r>
            </a:p>
          </p:txBody>
        </p:sp>
      </p:grpSp>
      <p:grpSp>
        <p:nvGrpSpPr>
          <p:cNvPr name="Group 139" id="139"/>
          <p:cNvGrpSpPr/>
          <p:nvPr/>
        </p:nvGrpSpPr>
        <p:grpSpPr>
          <a:xfrm rot="0">
            <a:off x="12344400" y="7735824"/>
            <a:ext cx="1737360" cy="475488"/>
            <a:chOff x="0" y="0"/>
            <a:chExt cx="2316480" cy="633984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2316480" cy="633984"/>
            </a:xfrm>
            <a:custGeom>
              <a:avLst/>
              <a:gdLst/>
              <a:ahLst/>
              <a:cxnLst/>
              <a:rect r="r" b="b" t="t" l="l"/>
              <a:pathLst>
                <a:path h="633984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95" r="0" b="-21195"/>
              </a:stretch>
            </a:blipFill>
          </p:spPr>
        </p:sp>
        <p:sp>
          <p:nvSpPr>
            <p:cNvPr name="TextBox 141" id="141"/>
            <p:cNvSpPr txBox="true"/>
            <p:nvPr/>
          </p:nvSpPr>
          <p:spPr>
            <a:xfrm>
              <a:off x="0" y="-38100"/>
              <a:ext cx="231648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28359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18.2%</a:t>
              </a:r>
            </a:p>
          </p:txBody>
        </p:sp>
      </p:grpSp>
      <p:grpSp>
        <p:nvGrpSpPr>
          <p:cNvPr name="Group 142" id="142"/>
          <p:cNvGrpSpPr/>
          <p:nvPr/>
        </p:nvGrpSpPr>
        <p:grpSpPr>
          <a:xfrm rot="0">
            <a:off x="14081760" y="7735824"/>
            <a:ext cx="1463040" cy="475488"/>
            <a:chOff x="0" y="0"/>
            <a:chExt cx="1950720" cy="633984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1950720" cy="633984"/>
            </a:xfrm>
            <a:custGeom>
              <a:avLst/>
              <a:gdLst/>
              <a:ahLst/>
              <a:cxnLst/>
              <a:rect r="r" b="b" t="t" l="l"/>
              <a:pathLst>
                <a:path h="633984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144" id="144"/>
            <p:cNvSpPr txBox="true"/>
            <p:nvPr/>
          </p:nvSpPr>
          <p:spPr>
            <a:xfrm>
              <a:off x="0" y="-38100"/>
              <a:ext cx="195072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2962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0.91%</a:t>
              </a:r>
            </a:p>
          </p:txBody>
        </p:sp>
      </p:grpSp>
      <p:grpSp>
        <p:nvGrpSpPr>
          <p:cNvPr name="Group 145" id="145"/>
          <p:cNvGrpSpPr/>
          <p:nvPr/>
        </p:nvGrpSpPr>
        <p:grpSpPr>
          <a:xfrm rot="0">
            <a:off x="542287" y="8332975"/>
            <a:ext cx="17203417" cy="671065"/>
            <a:chOff x="0" y="0"/>
            <a:chExt cx="22937889" cy="894753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22937851" cy="894715"/>
            </a:xfrm>
            <a:custGeom>
              <a:avLst/>
              <a:gdLst/>
              <a:ahLst/>
              <a:cxnLst/>
              <a:rect r="r" b="b" t="t" l="l"/>
              <a:pathLst>
                <a:path h="894715" w="22937851">
                  <a:moveTo>
                    <a:pt x="0" y="0"/>
                  </a:moveTo>
                  <a:lnTo>
                    <a:pt x="22937851" y="0"/>
                  </a:lnTo>
                  <a:lnTo>
                    <a:pt x="22937851" y="894715"/>
                  </a:lnTo>
                  <a:lnTo>
                    <a:pt x="0" y="894715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6E9FA"/>
              </a:solidFill>
              <a:prstDash val="solid"/>
              <a:miter/>
            </a:ln>
          </p:spPr>
        </p:sp>
      </p:grpSp>
      <p:grpSp>
        <p:nvGrpSpPr>
          <p:cNvPr name="Group 147" id="147"/>
          <p:cNvGrpSpPr/>
          <p:nvPr/>
        </p:nvGrpSpPr>
        <p:grpSpPr>
          <a:xfrm rot="0">
            <a:off x="548640" y="8430768"/>
            <a:ext cx="822960" cy="475488"/>
            <a:chOff x="0" y="0"/>
            <a:chExt cx="1097280" cy="633984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1097280" cy="633984"/>
            </a:xfrm>
            <a:custGeom>
              <a:avLst/>
              <a:gdLst/>
              <a:ahLst/>
              <a:cxnLst/>
              <a:rect r="r" b="b" t="t" l="l"/>
              <a:pathLst>
                <a:path h="633984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130" t="0" r="-24130" b="0"/>
              </a:stretch>
            </a:blipFill>
          </p:spPr>
        </p:sp>
        <p:sp>
          <p:nvSpPr>
            <p:cNvPr name="TextBox 149" id="149"/>
            <p:cNvSpPr txBox="true"/>
            <p:nvPr/>
          </p:nvSpPr>
          <p:spPr>
            <a:xfrm>
              <a:off x="0" y="-38100"/>
              <a:ext cx="109728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1565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#4</a:t>
              </a:r>
            </a:p>
          </p:txBody>
        </p:sp>
      </p:grpSp>
      <p:grpSp>
        <p:nvGrpSpPr>
          <p:cNvPr name="Group 150" id="150"/>
          <p:cNvGrpSpPr/>
          <p:nvPr/>
        </p:nvGrpSpPr>
        <p:grpSpPr>
          <a:xfrm rot="0">
            <a:off x="1371600" y="8430768"/>
            <a:ext cx="5852160" cy="475488"/>
            <a:chOff x="0" y="0"/>
            <a:chExt cx="7802880" cy="633984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7802880" cy="633984"/>
            </a:xfrm>
            <a:custGeom>
              <a:avLst/>
              <a:gdLst/>
              <a:ahLst/>
              <a:cxnLst/>
              <a:rect r="r" b="b" t="t" l="l"/>
              <a:pathLst>
                <a:path h="633984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815" r="0" b="-189815"/>
              </a:stretch>
            </a:blipFill>
          </p:spPr>
        </p:sp>
        <p:sp>
          <p:nvSpPr>
            <p:cNvPr name="TextBox 152" id="152"/>
            <p:cNvSpPr txBox="true"/>
            <p:nvPr/>
          </p:nvSpPr>
          <p:spPr>
            <a:xfrm>
              <a:off x="0" y="-38100"/>
              <a:ext cx="780288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0D3B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Axis Bluechip Direct Growth</a:t>
              </a:r>
            </a:p>
          </p:txBody>
        </p:sp>
      </p:grpSp>
      <p:grpSp>
        <p:nvGrpSpPr>
          <p:cNvPr name="Group 153" id="153"/>
          <p:cNvGrpSpPr/>
          <p:nvPr/>
        </p:nvGrpSpPr>
        <p:grpSpPr>
          <a:xfrm rot="0">
            <a:off x="7223760" y="8430768"/>
            <a:ext cx="2560320" cy="475488"/>
            <a:chOff x="0" y="0"/>
            <a:chExt cx="3413760" cy="633984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3413760" cy="633984"/>
            </a:xfrm>
            <a:custGeom>
              <a:avLst/>
              <a:gdLst/>
              <a:ahLst/>
              <a:cxnLst/>
              <a:rect r="r" b="b" t="t" l="l"/>
              <a:pathLst>
                <a:path h="633984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919" r="0" b="-54919"/>
              </a:stretch>
            </a:blipFill>
          </p:spPr>
        </p:sp>
        <p:sp>
          <p:nvSpPr>
            <p:cNvPr name="TextBox 155" id="155"/>
            <p:cNvSpPr txBox="true"/>
            <p:nvPr/>
          </p:nvSpPr>
          <p:spPr>
            <a:xfrm>
              <a:off x="0" y="-38100"/>
              <a:ext cx="341376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Large Cap</a:t>
              </a:r>
            </a:p>
          </p:txBody>
        </p:sp>
      </p:grpSp>
      <p:grpSp>
        <p:nvGrpSpPr>
          <p:cNvPr name="Group 156" id="156"/>
          <p:cNvGrpSpPr/>
          <p:nvPr/>
        </p:nvGrpSpPr>
        <p:grpSpPr>
          <a:xfrm rot="0">
            <a:off x="9784080" y="8430768"/>
            <a:ext cx="1280160" cy="475488"/>
            <a:chOff x="0" y="0"/>
            <a:chExt cx="1706880" cy="633984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1706880" cy="633984"/>
            </a:xfrm>
            <a:custGeom>
              <a:avLst/>
              <a:gdLst/>
              <a:ahLst/>
              <a:cxnLst/>
              <a:rect r="r" b="b" t="t" l="l"/>
              <a:pathLst>
                <a:path h="633984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9" r="0" b="-2459"/>
              </a:stretch>
            </a:blipFill>
          </p:spPr>
        </p:sp>
        <p:sp>
          <p:nvSpPr>
            <p:cNvPr name="TextBox 158" id="158"/>
            <p:cNvSpPr txBox="true"/>
            <p:nvPr/>
          </p:nvSpPr>
          <p:spPr>
            <a:xfrm>
              <a:off x="0" y="-38100"/>
              <a:ext cx="170688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0D47A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79.3</a:t>
              </a:r>
            </a:p>
          </p:txBody>
        </p:sp>
      </p:grpSp>
      <p:grpSp>
        <p:nvGrpSpPr>
          <p:cNvPr name="Group 159" id="159"/>
          <p:cNvGrpSpPr/>
          <p:nvPr/>
        </p:nvGrpSpPr>
        <p:grpSpPr>
          <a:xfrm rot="0">
            <a:off x="11064240" y="8430768"/>
            <a:ext cx="1280160" cy="475488"/>
            <a:chOff x="0" y="0"/>
            <a:chExt cx="1706880" cy="633984"/>
          </a:xfrm>
        </p:grpSpPr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1706880" cy="633984"/>
            </a:xfrm>
            <a:custGeom>
              <a:avLst/>
              <a:gdLst/>
              <a:ahLst/>
              <a:cxnLst/>
              <a:rect r="r" b="b" t="t" l="l"/>
              <a:pathLst>
                <a:path h="633984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9" r="0" b="-2459"/>
              </a:stretch>
            </a:blipFill>
          </p:spPr>
        </p:sp>
        <p:sp>
          <p:nvSpPr>
            <p:cNvPr name="TextBox 161" id="161"/>
            <p:cNvSpPr txBox="true"/>
            <p:nvPr/>
          </p:nvSpPr>
          <p:spPr>
            <a:xfrm>
              <a:off x="0" y="-38100"/>
              <a:ext cx="170688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1976D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1.58</a:t>
              </a:r>
            </a:p>
          </p:txBody>
        </p:sp>
      </p:grpSp>
      <p:grpSp>
        <p:nvGrpSpPr>
          <p:cNvPr name="Group 162" id="162"/>
          <p:cNvGrpSpPr/>
          <p:nvPr/>
        </p:nvGrpSpPr>
        <p:grpSpPr>
          <a:xfrm rot="0">
            <a:off x="12344400" y="8430768"/>
            <a:ext cx="1737360" cy="475488"/>
            <a:chOff x="0" y="0"/>
            <a:chExt cx="2316480" cy="633984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2316480" cy="633984"/>
            </a:xfrm>
            <a:custGeom>
              <a:avLst/>
              <a:gdLst/>
              <a:ahLst/>
              <a:cxnLst/>
              <a:rect r="r" b="b" t="t" l="l"/>
              <a:pathLst>
                <a:path h="633984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95" r="0" b="-21195"/>
              </a:stretch>
            </a:blipFill>
          </p:spPr>
        </p:sp>
        <p:sp>
          <p:nvSpPr>
            <p:cNvPr name="TextBox 164" id="164"/>
            <p:cNvSpPr txBox="true"/>
            <p:nvPr/>
          </p:nvSpPr>
          <p:spPr>
            <a:xfrm>
              <a:off x="0" y="-38100"/>
              <a:ext cx="231648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28359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16.8%</a:t>
              </a:r>
            </a:p>
          </p:txBody>
        </p:sp>
      </p:grpSp>
      <p:grpSp>
        <p:nvGrpSpPr>
          <p:cNvPr name="Group 165" id="165"/>
          <p:cNvGrpSpPr/>
          <p:nvPr/>
        </p:nvGrpSpPr>
        <p:grpSpPr>
          <a:xfrm rot="0">
            <a:off x="14081760" y="8430768"/>
            <a:ext cx="1463040" cy="475488"/>
            <a:chOff x="0" y="0"/>
            <a:chExt cx="1950720" cy="633984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0" y="0"/>
              <a:ext cx="1950720" cy="633984"/>
            </a:xfrm>
            <a:custGeom>
              <a:avLst/>
              <a:gdLst/>
              <a:ahLst/>
              <a:cxnLst/>
              <a:rect r="r" b="b" t="t" l="l"/>
              <a:pathLst>
                <a:path h="633984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167" id="167"/>
            <p:cNvSpPr txBox="true"/>
            <p:nvPr/>
          </p:nvSpPr>
          <p:spPr>
            <a:xfrm>
              <a:off x="0" y="-38100"/>
              <a:ext cx="195072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2962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0.55%</a:t>
              </a:r>
            </a:p>
          </p:txBody>
        </p:sp>
      </p:grpSp>
      <p:grpSp>
        <p:nvGrpSpPr>
          <p:cNvPr name="Group 168" id="168"/>
          <p:cNvGrpSpPr/>
          <p:nvPr/>
        </p:nvGrpSpPr>
        <p:grpSpPr>
          <a:xfrm rot="0">
            <a:off x="542287" y="9027919"/>
            <a:ext cx="17203417" cy="671065"/>
            <a:chOff x="0" y="0"/>
            <a:chExt cx="22937889" cy="894753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0" y="0"/>
              <a:ext cx="22937851" cy="894715"/>
            </a:xfrm>
            <a:custGeom>
              <a:avLst/>
              <a:gdLst/>
              <a:ahLst/>
              <a:cxnLst/>
              <a:rect r="r" b="b" t="t" l="l"/>
              <a:pathLst>
                <a:path h="894715" w="22937851">
                  <a:moveTo>
                    <a:pt x="0" y="0"/>
                  </a:moveTo>
                  <a:lnTo>
                    <a:pt x="22937851" y="0"/>
                  </a:lnTo>
                  <a:lnTo>
                    <a:pt x="22937851" y="894715"/>
                  </a:lnTo>
                  <a:lnTo>
                    <a:pt x="0" y="894715"/>
                  </a:lnTo>
                  <a:close/>
                </a:path>
              </a:pathLst>
            </a:custGeom>
            <a:solidFill>
              <a:srgbClr val="EAF3FC"/>
            </a:solidFill>
            <a:ln w="12700" cap="sq">
              <a:solidFill>
                <a:srgbClr val="D6E9FA"/>
              </a:solidFill>
              <a:prstDash val="solid"/>
              <a:miter/>
            </a:ln>
          </p:spPr>
        </p:sp>
      </p:grpSp>
      <p:grpSp>
        <p:nvGrpSpPr>
          <p:cNvPr name="Group 170" id="170"/>
          <p:cNvGrpSpPr/>
          <p:nvPr/>
        </p:nvGrpSpPr>
        <p:grpSpPr>
          <a:xfrm rot="0">
            <a:off x="548640" y="9125712"/>
            <a:ext cx="822960" cy="475488"/>
            <a:chOff x="0" y="0"/>
            <a:chExt cx="1097280" cy="633984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1097280" cy="633984"/>
            </a:xfrm>
            <a:custGeom>
              <a:avLst/>
              <a:gdLst/>
              <a:ahLst/>
              <a:cxnLst/>
              <a:rect r="r" b="b" t="t" l="l"/>
              <a:pathLst>
                <a:path h="633984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130" t="0" r="-24130" b="0"/>
              </a:stretch>
            </a:blipFill>
          </p:spPr>
        </p:sp>
        <p:sp>
          <p:nvSpPr>
            <p:cNvPr name="TextBox 172" id="172"/>
            <p:cNvSpPr txBox="true"/>
            <p:nvPr/>
          </p:nvSpPr>
          <p:spPr>
            <a:xfrm>
              <a:off x="0" y="-38100"/>
              <a:ext cx="109728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1565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#5</a:t>
              </a:r>
            </a:p>
          </p:txBody>
        </p:sp>
      </p:grpSp>
      <p:grpSp>
        <p:nvGrpSpPr>
          <p:cNvPr name="Group 173" id="173"/>
          <p:cNvGrpSpPr/>
          <p:nvPr/>
        </p:nvGrpSpPr>
        <p:grpSpPr>
          <a:xfrm rot="0">
            <a:off x="1371600" y="9125712"/>
            <a:ext cx="5852160" cy="475488"/>
            <a:chOff x="0" y="0"/>
            <a:chExt cx="7802880" cy="633984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7802880" cy="633984"/>
            </a:xfrm>
            <a:custGeom>
              <a:avLst/>
              <a:gdLst/>
              <a:ahLst/>
              <a:cxnLst/>
              <a:rect r="r" b="b" t="t" l="l"/>
              <a:pathLst>
                <a:path h="633984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815" r="0" b="-189815"/>
              </a:stretch>
            </a:blipFill>
          </p:spPr>
        </p:sp>
        <p:sp>
          <p:nvSpPr>
            <p:cNvPr name="TextBox 175" id="175"/>
            <p:cNvSpPr txBox="true"/>
            <p:nvPr/>
          </p:nvSpPr>
          <p:spPr>
            <a:xfrm>
              <a:off x="0" y="-38100"/>
              <a:ext cx="780288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0D3B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Kotak Emerging Equity Direct</a:t>
              </a:r>
            </a:p>
          </p:txBody>
        </p:sp>
      </p:grpSp>
      <p:grpSp>
        <p:nvGrpSpPr>
          <p:cNvPr name="Group 176" id="176"/>
          <p:cNvGrpSpPr/>
          <p:nvPr/>
        </p:nvGrpSpPr>
        <p:grpSpPr>
          <a:xfrm rot="0">
            <a:off x="7223760" y="9125712"/>
            <a:ext cx="2560320" cy="475488"/>
            <a:chOff x="0" y="0"/>
            <a:chExt cx="3413760" cy="633984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3413760" cy="633984"/>
            </a:xfrm>
            <a:custGeom>
              <a:avLst/>
              <a:gdLst/>
              <a:ahLst/>
              <a:cxnLst/>
              <a:rect r="r" b="b" t="t" l="l"/>
              <a:pathLst>
                <a:path h="633984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919" r="0" b="-54919"/>
              </a:stretch>
            </a:blipFill>
          </p:spPr>
        </p:sp>
        <p:sp>
          <p:nvSpPr>
            <p:cNvPr name="TextBox 178" id="178"/>
            <p:cNvSpPr txBox="true"/>
            <p:nvPr/>
          </p:nvSpPr>
          <p:spPr>
            <a:xfrm>
              <a:off x="0" y="-38100"/>
              <a:ext cx="341376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Mid Cap</a:t>
              </a:r>
            </a:p>
          </p:txBody>
        </p:sp>
      </p:grpSp>
      <p:grpSp>
        <p:nvGrpSpPr>
          <p:cNvPr name="Group 179" id="179"/>
          <p:cNvGrpSpPr/>
          <p:nvPr/>
        </p:nvGrpSpPr>
        <p:grpSpPr>
          <a:xfrm rot="0">
            <a:off x="9784080" y="9125712"/>
            <a:ext cx="1280160" cy="475488"/>
            <a:chOff x="0" y="0"/>
            <a:chExt cx="1706880" cy="633984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0" y="0"/>
              <a:ext cx="1706880" cy="633984"/>
            </a:xfrm>
            <a:custGeom>
              <a:avLst/>
              <a:gdLst/>
              <a:ahLst/>
              <a:cxnLst/>
              <a:rect r="r" b="b" t="t" l="l"/>
              <a:pathLst>
                <a:path h="633984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9" r="0" b="-2459"/>
              </a:stretch>
            </a:blipFill>
          </p:spPr>
        </p:sp>
        <p:sp>
          <p:nvSpPr>
            <p:cNvPr name="TextBox 181" id="181"/>
            <p:cNvSpPr txBox="true"/>
            <p:nvPr/>
          </p:nvSpPr>
          <p:spPr>
            <a:xfrm>
              <a:off x="0" y="-38100"/>
              <a:ext cx="170688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0D47A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76.9</a:t>
              </a:r>
            </a:p>
          </p:txBody>
        </p:sp>
      </p:grpSp>
      <p:grpSp>
        <p:nvGrpSpPr>
          <p:cNvPr name="Group 182" id="182"/>
          <p:cNvGrpSpPr/>
          <p:nvPr/>
        </p:nvGrpSpPr>
        <p:grpSpPr>
          <a:xfrm rot="0">
            <a:off x="11064240" y="9125712"/>
            <a:ext cx="1280160" cy="475488"/>
            <a:chOff x="0" y="0"/>
            <a:chExt cx="1706880" cy="633984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1706880" cy="633984"/>
            </a:xfrm>
            <a:custGeom>
              <a:avLst/>
              <a:gdLst/>
              <a:ahLst/>
              <a:cxnLst/>
              <a:rect r="r" b="b" t="t" l="l"/>
              <a:pathLst>
                <a:path h="633984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9" r="0" b="-2459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-38100"/>
              <a:ext cx="170688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1976D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1.49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12344400" y="9125712"/>
            <a:ext cx="1737360" cy="475488"/>
            <a:chOff x="0" y="0"/>
            <a:chExt cx="2316480" cy="633984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2316480" cy="633984"/>
            </a:xfrm>
            <a:custGeom>
              <a:avLst/>
              <a:gdLst/>
              <a:ahLst/>
              <a:cxnLst/>
              <a:rect r="r" b="b" t="t" l="l"/>
              <a:pathLst>
                <a:path h="633984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95" r="0" b="-21195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-38100"/>
              <a:ext cx="231648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28359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19.7%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14081760" y="9125712"/>
            <a:ext cx="1463040" cy="475488"/>
            <a:chOff x="0" y="0"/>
            <a:chExt cx="1950720" cy="633984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1950720" cy="633984"/>
            </a:xfrm>
            <a:custGeom>
              <a:avLst/>
              <a:gdLst/>
              <a:ahLst/>
              <a:cxnLst/>
              <a:rect r="r" b="b" t="t" l="l"/>
              <a:pathLst>
                <a:path h="633984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-38100"/>
              <a:ext cx="195072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2962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0.68%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645920"/>
            <a:chOff x="0" y="0"/>
            <a:chExt cx="24384000" cy="21945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28359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182880"/>
            <a:ext cx="16824960" cy="1280160"/>
            <a:chOff x="0" y="0"/>
            <a:chExt cx="22433280" cy="17068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4332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089" r="0" b="-206089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22433280" cy="1792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Advanced Analytics — Risk Intelligence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38150" y="1901190"/>
            <a:ext cx="8450580" cy="3695700"/>
            <a:chOff x="0" y="0"/>
            <a:chExt cx="11267440" cy="4927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267440" cy="4927600"/>
            </a:xfrm>
            <a:custGeom>
              <a:avLst/>
              <a:gdLst/>
              <a:ahLst/>
              <a:cxnLst/>
              <a:rect r="r" b="b" t="t" l="l"/>
              <a:pathLst>
                <a:path h="4927600" w="11267440">
                  <a:moveTo>
                    <a:pt x="0" y="0"/>
                  </a:moveTo>
                  <a:lnTo>
                    <a:pt x="11267440" y="0"/>
                  </a:lnTo>
                  <a:lnTo>
                    <a:pt x="11267440" y="4927600"/>
                  </a:lnTo>
                  <a:lnTo>
                    <a:pt x="0" y="4927600"/>
                  </a:lnTo>
                  <a:close/>
                </a:path>
              </a:pathLst>
            </a:custGeom>
            <a:solidFill>
              <a:srgbClr val="EAF3FC"/>
            </a:solidFill>
            <a:ln w="38100" cap="sq">
              <a:solidFill>
                <a:srgbClr val="0D3B66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731520" y="2103120"/>
            <a:ext cx="7863840" cy="694944"/>
            <a:chOff x="0" y="0"/>
            <a:chExt cx="10485120" cy="92659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485120" cy="926592"/>
            </a:xfrm>
            <a:custGeom>
              <a:avLst/>
              <a:gdLst/>
              <a:ahLst/>
              <a:cxnLst/>
              <a:rect r="r" b="b" t="t" l="l"/>
              <a:pathLst>
                <a:path h="92659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0488" r="0" b="-17048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048512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D3B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VaR &amp; CVaR (95%)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31520" y="2871216"/>
            <a:ext cx="7863840" cy="493776"/>
            <a:chOff x="0" y="0"/>
            <a:chExt cx="10485120" cy="65836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485120" cy="658368"/>
            </a:xfrm>
            <a:custGeom>
              <a:avLst/>
              <a:gdLst/>
              <a:ahLst/>
              <a:cxnLst/>
              <a:rect r="r" b="b" t="t" l="l"/>
              <a:pathLst>
                <a:path h="65836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0317" r="0" b="-26031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048512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Historical VaR = 5th percentile of daily returns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31520" y="3401568"/>
            <a:ext cx="7863840" cy="493776"/>
            <a:chOff x="0" y="0"/>
            <a:chExt cx="10485120" cy="65836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485120" cy="658368"/>
            </a:xfrm>
            <a:custGeom>
              <a:avLst/>
              <a:gdLst/>
              <a:ahLst/>
              <a:cxnLst/>
              <a:rect r="r" b="b" t="t" l="l"/>
              <a:pathLst>
                <a:path h="65836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0317" r="0" b="-26031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048512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CVaR = Mean of returns below VaR threshold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31520" y="3931920"/>
            <a:ext cx="7863840" cy="493776"/>
            <a:chOff x="0" y="0"/>
            <a:chExt cx="10485120" cy="65836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485120" cy="658368"/>
            </a:xfrm>
            <a:custGeom>
              <a:avLst/>
              <a:gdLst/>
              <a:ahLst/>
              <a:cxnLst/>
              <a:rect r="r" b="b" t="t" l="l"/>
              <a:pathLst>
                <a:path h="65836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0317" r="0" b="-260317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048512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Small/Mid Cap: VaR exceeds -2.5% daily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31520" y="4462272"/>
            <a:ext cx="7863840" cy="493776"/>
            <a:chOff x="0" y="0"/>
            <a:chExt cx="10485120" cy="65836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485120" cy="658368"/>
            </a:xfrm>
            <a:custGeom>
              <a:avLst/>
              <a:gdLst/>
              <a:ahLst/>
              <a:cxnLst/>
              <a:rect r="r" b="b" t="t" l="l"/>
              <a:pathLst>
                <a:path h="65836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0317" r="0" b="-260317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048512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Liquid/Gilt funds: VaR below -0.3%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31520" y="4992624"/>
            <a:ext cx="7863840" cy="493776"/>
            <a:chOff x="0" y="0"/>
            <a:chExt cx="10485120" cy="65836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485120" cy="658368"/>
            </a:xfrm>
            <a:custGeom>
              <a:avLst/>
              <a:gdLst/>
              <a:ahLst/>
              <a:cxnLst/>
              <a:rect r="r" b="b" t="t" l="l"/>
              <a:pathLst>
                <a:path h="65836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0317" r="0" b="-260317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048512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Saved: var_cvar_report.csv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307830" y="1901190"/>
            <a:ext cx="8450580" cy="3695700"/>
            <a:chOff x="0" y="0"/>
            <a:chExt cx="11267440" cy="49276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267440" cy="4927600"/>
            </a:xfrm>
            <a:custGeom>
              <a:avLst/>
              <a:gdLst/>
              <a:ahLst/>
              <a:cxnLst/>
              <a:rect r="r" b="b" t="t" l="l"/>
              <a:pathLst>
                <a:path h="4927600" w="11267440">
                  <a:moveTo>
                    <a:pt x="0" y="0"/>
                  </a:moveTo>
                  <a:lnTo>
                    <a:pt x="11267440" y="0"/>
                  </a:lnTo>
                  <a:lnTo>
                    <a:pt x="11267440" y="4927600"/>
                  </a:lnTo>
                  <a:lnTo>
                    <a:pt x="0" y="4927600"/>
                  </a:lnTo>
                  <a:close/>
                </a:path>
              </a:pathLst>
            </a:custGeom>
            <a:solidFill>
              <a:srgbClr val="EAF3FC"/>
            </a:solidFill>
            <a:ln w="38100" cap="sq">
              <a:solidFill>
                <a:srgbClr val="1565C0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9601200" y="2103120"/>
            <a:ext cx="7863840" cy="694944"/>
            <a:chOff x="0" y="0"/>
            <a:chExt cx="10485120" cy="92659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485120" cy="926592"/>
            </a:xfrm>
            <a:custGeom>
              <a:avLst/>
              <a:gdLst/>
              <a:ahLst/>
              <a:cxnLst/>
              <a:rect r="r" b="b" t="t" l="l"/>
              <a:pathLst>
                <a:path h="92659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0488" r="0" b="-170488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1048512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565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Rolling 90-Day Sharpe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601200" y="2871216"/>
            <a:ext cx="7863840" cy="493776"/>
            <a:chOff x="0" y="0"/>
            <a:chExt cx="10485120" cy="65836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485120" cy="658368"/>
            </a:xfrm>
            <a:custGeom>
              <a:avLst/>
              <a:gdLst/>
              <a:ahLst/>
              <a:cxnLst/>
              <a:rect r="r" b="b" t="t" l="l"/>
              <a:pathLst>
                <a:path h="65836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0317" r="0" b="-260317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048512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Window: returns.rolling(90).mean()/std × √252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601200" y="3401568"/>
            <a:ext cx="7863840" cy="493776"/>
            <a:chOff x="0" y="0"/>
            <a:chExt cx="10485120" cy="65836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485120" cy="658368"/>
            </a:xfrm>
            <a:custGeom>
              <a:avLst/>
              <a:gdLst/>
              <a:ahLst/>
              <a:cxnLst/>
              <a:rect r="r" b="b" t="t" l="l"/>
              <a:pathLst>
                <a:path h="65836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0317" r="0" b="-26031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048512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Plotted for 5 funds across categories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601200" y="3931920"/>
            <a:ext cx="7863840" cy="493776"/>
            <a:chOff x="0" y="0"/>
            <a:chExt cx="10485120" cy="65836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485120" cy="658368"/>
            </a:xfrm>
            <a:custGeom>
              <a:avLst/>
              <a:gdLst/>
              <a:ahLst/>
              <a:cxnLst/>
              <a:rect r="r" b="b" t="t" l="l"/>
              <a:pathLst>
                <a:path h="65836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0317" r="0" b="-26031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048512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Sharpe peaked &gt;2.0 in 2023 bull run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601200" y="4462272"/>
            <a:ext cx="7863840" cy="493776"/>
            <a:chOff x="0" y="0"/>
            <a:chExt cx="10485120" cy="65836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485120" cy="658368"/>
            </a:xfrm>
            <a:custGeom>
              <a:avLst/>
              <a:gdLst/>
              <a:ahLst/>
              <a:cxnLst/>
              <a:rect r="r" b="b" t="t" l="l"/>
              <a:pathLst>
                <a:path h="65836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0317" r="0" b="-260317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048512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Dropped below 1.0 in 2024 correction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601200" y="4992624"/>
            <a:ext cx="7863840" cy="493776"/>
            <a:chOff x="0" y="0"/>
            <a:chExt cx="10485120" cy="65836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485120" cy="658368"/>
            </a:xfrm>
            <a:custGeom>
              <a:avLst/>
              <a:gdLst/>
              <a:ahLst/>
              <a:cxnLst/>
              <a:rect r="r" b="b" t="t" l="l"/>
              <a:pathLst>
                <a:path h="65836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0317" r="0" b="-260317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1048512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Large Cap most stable throughout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438150" y="5833110"/>
            <a:ext cx="8450580" cy="3695700"/>
            <a:chOff x="0" y="0"/>
            <a:chExt cx="11267440" cy="49276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1267440" cy="4927600"/>
            </a:xfrm>
            <a:custGeom>
              <a:avLst/>
              <a:gdLst/>
              <a:ahLst/>
              <a:cxnLst/>
              <a:rect r="r" b="b" t="t" l="l"/>
              <a:pathLst>
                <a:path h="4927600" w="11267440">
                  <a:moveTo>
                    <a:pt x="0" y="0"/>
                  </a:moveTo>
                  <a:lnTo>
                    <a:pt x="11267440" y="0"/>
                  </a:lnTo>
                  <a:lnTo>
                    <a:pt x="11267440" y="4927600"/>
                  </a:lnTo>
                  <a:lnTo>
                    <a:pt x="0" y="4927600"/>
                  </a:lnTo>
                  <a:close/>
                </a:path>
              </a:pathLst>
            </a:custGeom>
            <a:solidFill>
              <a:srgbClr val="EAF3FC"/>
            </a:solidFill>
            <a:ln w="38100" cap="sq">
              <a:solidFill>
                <a:srgbClr val="0D47A1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731520" y="6035040"/>
            <a:ext cx="7863840" cy="694944"/>
            <a:chOff x="0" y="0"/>
            <a:chExt cx="10485120" cy="92659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485120" cy="926592"/>
            </a:xfrm>
            <a:custGeom>
              <a:avLst/>
              <a:gdLst/>
              <a:ahLst/>
              <a:cxnLst/>
              <a:rect r="r" b="b" t="t" l="l"/>
              <a:pathLst>
                <a:path h="92659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0488" r="0" b="-170488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57150"/>
              <a:ext cx="1048512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D47A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Investor Cohort Analysis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731520" y="6803136"/>
            <a:ext cx="7863840" cy="493776"/>
            <a:chOff x="0" y="0"/>
            <a:chExt cx="10485120" cy="65836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485120" cy="658368"/>
            </a:xfrm>
            <a:custGeom>
              <a:avLst/>
              <a:gdLst/>
              <a:ahLst/>
              <a:cxnLst/>
              <a:rect r="r" b="b" t="t" l="l"/>
              <a:pathLst>
                <a:path h="65836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0317" r="0" b="-260317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1048512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Grouped by first transaction year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731520" y="7333488"/>
            <a:ext cx="7863840" cy="493776"/>
            <a:chOff x="0" y="0"/>
            <a:chExt cx="10485120" cy="65836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485120" cy="658368"/>
            </a:xfrm>
            <a:custGeom>
              <a:avLst/>
              <a:gdLst/>
              <a:ahLst/>
              <a:cxnLst/>
              <a:rect r="r" b="b" t="t" l="l"/>
              <a:pathLst>
                <a:path h="65836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0317" r="0" b="-260317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1048512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2024 cohort: highest avg SIP amount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731520" y="7863840"/>
            <a:ext cx="7863840" cy="493776"/>
            <a:chOff x="0" y="0"/>
            <a:chExt cx="10485120" cy="65836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485120" cy="658368"/>
            </a:xfrm>
            <a:custGeom>
              <a:avLst/>
              <a:gdLst/>
              <a:ahLst/>
              <a:cxnLst/>
              <a:rect r="r" b="b" t="t" l="l"/>
              <a:pathLst>
                <a:path h="65836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0317" r="0" b="-260317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1048512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2022 cohort: prefers Large Cap Direct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731520" y="8394192"/>
            <a:ext cx="7863840" cy="493776"/>
            <a:chOff x="0" y="0"/>
            <a:chExt cx="10485120" cy="658368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485120" cy="658368"/>
            </a:xfrm>
            <a:custGeom>
              <a:avLst/>
              <a:gdLst/>
              <a:ahLst/>
              <a:cxnLst/>
              <a:rect r="r" b="b" t="t" l="l"/>
              <a:pathLst>
                <a:path h="65836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0317" r="0" b="-260317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1048512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Newer cohorts: shift to Mid/Flexi Cap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731520" y="8924544"/>
            <a:ext cx="7863840" cy="493776"/>
            <a:chOff x="0" y="0"/>
            <a:chExt cx="10485120" cy="65836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485120" cy="658368"/>
            </a:xfrm>
            <a:custGeom>
              <a:avLst/>
              <a:gdLst/>
              <a:ahLst/>
              <a:cxnLst/>
              <a:rect r="r" b="b" t="t" l="l"/>
              <a:pathLst>
                <a:path h="65836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0317" r="0" b="-260317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1048512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Growing risk appetite over time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9307830" y="5833110"/>
            <a:ext cx="8450580" cy="3695700"/>
            <a:chOff x="0" y="0"/>
            <a:chExt cx="11267440" cy="49276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1267440" cy="4927600"/>
            </a:xfrm>
            <a:custGeom>
              <a:avLst/>
              <a:gdLst/>
              <a:ahLst/>
              <a:cxnLst/>
              <a:rect r="r" b="b" t="t" l="l"/>
              <a:pathLst>
                <a:path h="4927600" w="11267440">
                  <a:moveTo>
                    <a:pt x="0" y="0"/>
                  </a:moveTo>
                  <a:lnTo>
                    <a:pt x="11267440" y="0"/>
                  </a:lnTo>
                  <a:lnTo>
                    <a:pt x="11267440" y="4927600"/>
                  </a:lnTo>
                  <a:lnTo>
                    <a:pt x="0" y="4927600"/>
                  </a:lnTo>
                  <a:close/>
                </a:path>
              </a:pathLst>
            </a:custGeom>
            <a:solidFill>
              <a:srgbClr val="EAF3FC"/>
            </a:solidFill>
            <a:ln w="38100" cap="sq">
              <a:solidFill>
                <a:srgbClr val="1976D2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9601200" y="6035040"/>
            <a:ext cx="7863840" cy="694944"/>
            <a:chOff x="0" y="0"/>
            <a:chExt cx="10485120" cy="926592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0485120" cy="926592"/>
            </a:xfrm>
            <a:custGeom>
              <a:avLst/>
              <a:gdLst/>
              <a:ahLst/>
              <a:cxnLst/>
              <a:rect r="r" b="b" t="t" l="l"/>
              <a:pathLst>
                <a:path h="92659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0488" r="0" b="-170488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57150"/>
              <a:ext cx="1048512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976D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SIP Continuity &amp; Recommender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9601200" y="6803136"/>
            <a:ext cx="7863840" cy="493776"/>
            <a:chOff x="0" y="0"/>
            <a:chExt cx="10485120" cy="658368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0485120" cy="658368"/>
            </a:xfrm>
            <a:custGeom>
              <a:avLst/>
              <a:gdLst/>
              <a:ahLst/>
              <a:cxnLst/>
              <a:rect r="r" b="b" t="t" l="l"/>
              <a:pathLst>
                <a:path h="65836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0317" r="0" b="-260317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1048512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Investors with 6+ SIPs — avg gap analysis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9601200" y="7333488"/>
            <a:ext cx="7863840" cy="493776"/>
            <a:chOff x="0" y="0"/>
            <a:chExt cx="10485120" cy="65836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0485120" cy="658368"/>
            </a:xfrm>
            <a:custGeom>
              <a:avLst/>
              <a:gdLst/>
              <a:ahLst/>
              <a:cxnLst/>
              <a:rect r="r" b="b" t="t" l="l"/>
              <a:pathLst>
                <a:path h="65836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0317" r="0" b="-260317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1048512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At-Risk flag: avg gap &gt; 35 days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9601200" y="7863840"/>
            <a:ext cx="7863840" cy="493776"/>
            <a:chOff x="0" y="0"/>
            <a:chExt cx="10485120" cy="658368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0485120" cy="658368"/>
            </a:xfrm>
            <a:custGeom>
              <a:avLst/>
              <a:gdLst/>
              <a:ahLst/>
              <a:cxnLst/>
              <a:rect r="r" b="b" t="t" l="l"/>
              <a:pathLst>
                <a:path h="65836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0317" r="0" b="-260317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1048512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Fund Recommender: Low/Moderate/High input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9601200" y="8394192"/>
            <a:ext cx="7863840" cy="493776"/>
            <a:chOff x="0" y="0"/>
            <a:chExt cx="10485120" cy="658368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0485120" cy="658368"/>
            </a:xfrm>
            <a:custGeom>
              <a:avLst/>
              <a:gdLst/>
              <a:ahLst/>
              <a:cxnLst/>
              <a:rect r="r" b="b" t="t" l="l"/>
              <a:pathLst>
                <a:path h="65836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0317" r="0" b="-260317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1048512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Returns top 3 by Sharpe within risk grade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9601200" y="8924544"/>
            <a:ext cx="7863840" cy="493776"/>
            <a:chOff x="0" y="0"/>
            <a:chExt cx="10485120" cy="658368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0485120" cy="658368"/>
            </a:xfrm>
            <a:custGeom>
              <a:avLst/>
              <a:gdLst/>
              <a:ahLst/>
              <a:cxnLst/>
              <a:rect r="r" b="b" t="t" l="l"/>
              <a:pathLst>
                <a:path h="65836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0317" r="0" b="-260317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1048512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Saved: recommender.py (CLI tool)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645920"/>
            <a:chOff x="0" y="0"/>
            <a:chExt cx="24384000" cy="21945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1976D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182880"/>
            <a:ext cx="16824960" cy="1280160"/>
            <a:chOff x="0" y="0"/>
            <a:chExt cx="22433280" cy="17068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4332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089" r="0" b="-206089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22433280" cy="1792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Power BI Dashboard — 4 Interactive Pages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31797" y="1894837"/>
            <a:ext cx="8463277" cy="3708397"/>
            <a:chOff x="0" y="0"/>
            <a:chExt cx="11284369" cy="494452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284331" cy="4944491"/>
            </a:xfrm>
            <a:custGeom>
              <a:avLst/>
              <a:gdLst/>
              <a:ahLst/>
              <a:cxnLst/>
              <a:rect r="r" b="b" t="t" l="l"/>
              <a:pathLst>
                <a:path h="4944491" w="11284331">
                  <a:moveTo>
                    <a:pt x="0" y="0"/>
                  </a:moveTo>
                  <a:lnTo>
                    <a:pt x="11284331" y="0"/>
                  </a:lnTo>
                  <a:lnTo>
                    <a:pt x="11284331" y="4944491"/>
                  </a:lnTo>
                  <a:lnTo>
                    <a:pt x="0" y="4944491"/>
                  </a:lnTo>
                  <a:close/>
                </a:path>
              </a:pathLst>
            </a:custGeom>
            <a:solidFill>
              <a:srgbClr val="EAF3FC"/>
            </a:solidFill>
            <a:ln w="50800" cap="sq">
              <a:solidFill>
                <a:srgbClr val="0D3B66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457200" y="1920240"/>
            <a:ext cx="8412480" cy="768096"/>
            <a:chOff x="0" y="0"/>
            <a:chExt cx="11216640" cy="102412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2166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0D3B66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40080" y="2011680"/>
            <a:ext cx="8046720" cy="585216"/>
            <a:chOff x="0" y="0"/>
            <a:chExt cx="10728960" cy="7802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728960" cy="780288"/>
            </a:xfrm>
            <a:custGeom>
              <a:avLst/>
              <a:gdLst/>
              <a:ahLst/>
              <a:cxnLst/>
              <a:rect r="r" b="b" t="t" l="l"/>
              <a:pathLst>
                <a:path h="780288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072896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Page 1 — Industry Overview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31520" y="2871216"/>
            <a:ext cx="7863840" cy="585216"/>
            <a:chOff x="0" y="0"/>
            <a:chExt cx="10485120" cy="78028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485120" cy="780288"/>
            </a:xfrm>
            <a:custGeom>
              <a:avLst/>
              <a:gdLst/>
              <a:ahLst/>
              <a:cxnLst/>
              <a:rect r="r" b="b" t="t" l="l"/>
              <a:pathLst>
                <a:path h="78028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830" r="0" b="-21183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48512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KPI Cards: AUM, SIP, Folios, Schemes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31520" y="3511296"/>
            <a:ext cx="7863840" cy="585216"/>
            <a:chOff x="0" y="0"/>
            <a:chExt cx="10485120" cy="78028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485120" cy="780288"/>
            </a:xfrm>
            <a:custGeom>
              <a:avLst/>
              <a:gdLst/>
              <a:ahLst/>
              <a:cxnLst/>
              <a:rect r="r" b="b" t="t" l="l"/>
              <a:pathLst>
                <a:path h="78028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830" r="0" b="-21183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048512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AUM Trend Line Chart 2022–2025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31520" y="4151376"/>
            <a:ext cx="7863840" cy="585216"/>
            <a:chOff x="0" y="0"/>
            <a:chExt cx="10485120" cy="78028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485120" cy="780288"/>
            </a:xfrm>
            <a:custGeom>
              <a:avLst/>
              <a:gdLst/>
              <a:ahLst/>
              <a:cxnLst/>
              <a:rect r="r" b="b" t="t" l="l"/>
              <a:pathLst>
                <a:path h="78028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830" r="0" b="-21183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048512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AUM by Fund House Bar Chart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301477" y="1894837"/>
            <a:ext cx="8463277" cy="3708397"/>
            <a:chOff x="0" y="0"/>
            <a:chExt cx="11284369" cy="494452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284331" cy="4944491"/>
            </a:xfrm>
            <a:custGeom>
              <a:avLst/>
              <a:gdLst/>
              <a:ahLst/>
              <a:cxnLst/>
              <a:rect r="r" b="b" t="t" l="l"/>
              <a:pathLst>
                <a:path h="4944491" w="11284331">
                  <a:moveTo>
                    <a:pt x="0" y="0"/>
                  </a:moveTo>
                  <a:lnTo>
                    <a:pt x="11284331" y="0"/>
                  </a:lnTo>
                  <a:lnTo>
                    <a:pt x="11284331" y="4944491"/>
                  </a:lnTo>
                  <a:lnTo>
                    <a:pt x="0" y="4944491"/>
                  </a:lnTo>
                  <a:close/>
                </a:path>
              </a:pathLst>
            </a:custGeom>
            <a:solidFill>
              <a:srgbClr val="EAF3FC"/>
            </a:solidFill>
            <a:ln w="50800" cap="sq">
              <a:solidFill>
                <a:srgbClr val="1565C0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9326880" y="1920240"/>
            <a:ext cx="8412480" cy="768096"/>
            <a:chOff x="0" y="0"/>
            <a:chExt cx="11216640" cy="102412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2166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509760" y="2011680"/>
            <a:ext cx="8046720" cy="585216"/>
            <a:chOff x="0" y="0"/>
            <a:chExt cx="10728960" cy="78028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728960" cy="780288"/>
            </a:xfrm>
            <a:custGeom>
              <a:avLst/>
              <a:gdLst/>
              <a:ahLst/>
              <a:cxnLst/>
              <a:rect r="r" b="b" t="t" l="l"/>
              <a:pathLst>
                <a:path h="780288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072896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Page 2 — Fund Performance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601200" y="2871216"/>
            <a:ext cx="7863840" cy="585216"/>
            <a:chOff x="0" y="0"/>
            <a:chExt cx="10485120" cy="78028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485120" cy="780288"/>
            </a:xfrm>
            <a:custGeom>
              <a:avLst/>
              <a:gdLst/>
              <a:ahLst/>
              <a:cxnLst/>
              <a:rect r="r" b="b" t="t" l="l"/>
              <a:pathLst>
                <a:path h="78028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830" r="0" b="-21183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048512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Risk vs Return Scatter (bubble=AUM)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601200" y="3511296"/>
            <a:ext cx="7863840" cy="585216"/>
            <a:chOff x="0" y="0"/>
            <a:chExt cx="10485120" cy="78028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485120" cy="780288"/>
            </a:xfrm>
            <a:custGeom>
              <a:avLst/>
              <a:gdLst/>
              <a:ahLst/>
              <a:cxnLst/>
              <a:rect r="r" b="b" t="t" l="l"/>
              <a:pathLst>
                <a:path h="78028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830" r="0" b="-21183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048512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Sortable Fund Scorecard Table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601200" y="4151376"/>
            <a:ext cx="7863840" cy="585216"/>
            <a:chOff x="0" y="0"/>
            <a:chExt cx="10485120" cy="78028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485120" cy="780288"/>
            </a:xfrm>
            <a:custGeom>
              <a:avLst/>
              <a:gdLst/>
              <a:ahLst/>
              <a:cxnLst/>
              <a:rect r="r" b="b" t="t" l="l"/>
              <a:pathLst>
                <a:path h="78028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830" r="0" b="-21183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1048512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NAV vs NIFTY100 Line Chart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601200" y="4791456"/>
            <a:ext cx="7863840" cy="585216"/>
            <a:chOff x="0" y="0"/>
            <a:chExt cx="10485120" cy="78028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485120" cy="780288"/>
            </a:xfrm>
            <a:custGeom>
              <a:avLst/>
              <a:gdLst/>
              <a:ahLst/>
              <a:cxnLst/>
              <a:rect r="r" b="b" t="t" l="l"/>
              <a:pathLst>
                <a:path h="78028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830" r="0" b="-21183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1048512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Slicers: Fund House, Category, Plan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431797" y="5826757"/>
            <a:ext cx="8463277" cy="3708397"/>
            <a:chOff x="0" y="0"/>
            <a:chExt cx="11284369" cy="494452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1284331" cy="4944491"/>
            </a:xfrm>
            <a:custGeom>
              <a:avLst/>
              <a:gdLst/>
              <a:ahLst/>
              <a:cxnLst/>
              <a:rect r="r" b="b" t="t" l="l"/>
              <a:pathLst>
                <a:path h="4944491" w="11284331">
                  <a:moveTo>
                    <a:pt x="0" y="0"/>
                  </a:moveTo>
                  <a:lnTo>
                    <a:pt x="11284331" y="0"/>
                  </a:lnTo>
                  <a:lnTo>
                    <a:pt x="11284331" y="4944491"/>
                  </a:lnTo>
                  <a:lnTo>
                    <a:pt x="0" y="4944491"/>
                  </a:lnTo>
                  <a:close/>
                </a:path>
              </a:pathLst>
            </a:custGeom>
            <a:solidFill>
              <a:srgbClr val="EAF3FC"/>
            </a:solidFill>
            <a:ln w="50800" cap="sq">
              <a:solidFill>
                <a:srgbClr val="0D47A1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457200" y="5852160"/>
            <a:ext cx="8412480" cy="768096"/>
            <a:chOff x="0" y="0"/>
            <a:chExt cx="11216640" cy="102412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12166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0D47A1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640080" y="5943600"/>
            <a:ext cx="8046720" cy="585216"/>
            <a:chOff x="0" y="0"/>
            <a:chExt cx="10728960" cy="78028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728960" cy="780288"/>
            </a:xfrm>
            <a:custGeom>
              <a:avLst/>
              <a:gdLst/>
              <a:ahLst/>
              <a:cxnLst/>
              <a:rect r="r" b="b" t="t" l="l"/>
              <a:pathLst>
                <a:path h="780288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1072896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Page 3 — Investor Analytics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731520" y="6803136"/>
            <a:ext cx="7863840" cy="585216"/>
            <a:chOff x="0" y="0"/>
            <a:chExt cx="10485120" cy="78028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485120" cy="780288"/>
            </a:xfrm>
            <a:custGeom>
              <a:avLst/>
              <a:gdLst/>
              <a:ahLst/>
              <a:cxnLst/>
              <a:rect r="r" b="b" t="t" l="l"/>
              <a:pathLst>
                <a:path h="78028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830" r="0" b="-21183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1048512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Transaction Amount by State (bar)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731520" y="7443216"/>
            <a:ext cx="7863840" cy="585216"/>
            <a:chOff x="0" y="0"/>
            <a:chExt cx="10485120" cy="78028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485120" cy="780288"/>
            </a:xfrm>
            <a:custGeom>
              <a:avLst/>
              <a:gdLst/>
              <a:ahLst/>
              <a:cxnLst/>
              <a:rect r="r" b="b" t="t" l="l"/>
              <a:pathLst>
                <a:path h="78028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830" r="0" b="-21183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1048512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SIP/Lumpsum/Redemption Donut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731520" y="8083296"/>
            <a:ext cx="7863840" cy="585216"/>
            <a:chOff x="0" y="0"/>
            <a:chExt cx="10485120" cy="78028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485120" cy="780288"/>
            </a:xfrm>
            <a:custGeom>
              <a:avLst/>
              <a:gdLst/>
              <a:ahLst/>
              <a:cxnLst/>
              <a:rect r="r" b="b" t="t" l="l"/>
              <a:pathLst>
                <a:path h="78028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830" r="0" b="-21183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1048512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Avg SIP Amount by Age Group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731520" y="8723376"/>
            <a:ext cx="7863840" cy="585216"/>
            <a:chOff x="0" y="0"/>
            <a:chExt cx="10485120" cy="78028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485120" cy="780288"/>
            </a:xfrm>
            <a:custGeom>
              <a:avLst/>
              <a:gdLst/>
              <a:ahLst/>
              <a:cxnLst/>
              <a:rect r="r" b="b" t="t" l="l"/>
              <a:pathLst>
                <a:path h="78028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830" r="0" b="-21183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1048512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Monthly Transaction Volume Line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301477" y="5826757"/>
            <a:ext cx="8463277" cy="3708397"/>
            <a:chOff x="0" y="0"/>
            <a:chExt cx="11284369" cy="4944529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1284331" cy="4944491"/>
            </a:xfrm>
            <a:custGeom>
              <a:avLst/>
              <a:gdLst/>
              <a:ahLst/>
              <a:cxnLst/>
              <a:rect r="r" b="b" t="t" l="l"/>
              <a:pathLst>
                <a:path h="4944491" w="11284331">
                  <a:moveTo>
                    <a:pt x="0" y="0"/>
                  </a:moveTo>
                  <a:lnTo>
                    <a:pt x="11284331" y="0"/>
                  </a:lnTo>
                  <a:lnTo>
                    <a:pt x="11284331" y="4944491"/>
                  </a:lnTo>
                  <a:lnTo>
                    <a:pt x="0" y="4944491"/>
                  </a:lnTo>
                  <a:close/>
                </a:path>
              </a:pathLst>
            </a:custGeom>
            <a:solidFill>
              <a:srgbClr val="EAF3FC"/>
            </a:solidFill>
            <a:ln w="50800" cap="sq">
              <a:solidFill>
                <a:srgbClr val="1976D2"/>
              </a:solidFill>
              <a:prstDash val="solid"/>
              <a:miter/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9326880" y="5852160"/>
            <a:ext cx="8412480" cy="768096"/>
            <a:chOff x="0" y="0"/>
            <a:chExt cx="11216640" cy="102412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12166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1976D2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9509760" y="5943600"/>
            <a:ext cx="8046720" cy="585216"/>
            <a:chOff x="0" y="0"/>
            <a:chExt cx="10728960" cy="78028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728960" cy="780288"/>
            </a:xfrm>
            <a:custGeom>
              <a:avLst/>
              <a:gdLst/>
              <a:ahLst/>
              <a:cxnLst/>
              <a:rect r="r" b="b" t="t" l="l"/>
              <a:pathLst>
                <a:path h="780288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1072896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Page 4 — SIP &amp; Market Trends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601200" y="6803136"/>
            <a:ext cx="7863840" cy="585216"/>
            <a:chOff x="0" y="0"/>
            <a:chExt cx="10485120" cy="78028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485120" cy="780288"/>
            </a:xfrm>
            <a:custGeom>
              <a:avLst/>
              <a:gdLst/>
              <a:ahLst/>
              <a:cxnLst/>
              <a:rect r="r" b="b" t="t" l="l"/>
              <a:pathLst>
                <a:path h="78028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830" r="0" b="-21183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1048512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SIP Inflow Bar Chart 2022–2025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601200" y="7443216"/>
            <a:ext cx="7863840" cy="585216"/>
            <a:chOff x="0" y="0"/>
            <a:chExt cx="10485120" cy="780288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0485120" cy="780288"/>
            </a:xfrm>
            <a:custGeom>
              <a:avLst/>
              <a:gdLst/>
              <a:ahLst/>
              <a:cxnLst/>
              <a:rect r="r" b="b" t="t" l="l"/>
              <a:pathLst>
                <a:path h="78028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830" r="0" b="-21183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1048512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NIFTY50 Trend Line Chart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9601200" y="8083296"/>
            <a:ext cx="7863840" cy="585216"/>
            <a:chOff x="0" y="0"/>
            <a:chExt cx="10485120" cy="780288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0485120" cy="780288"/>
            </a:xfrm>
            <a:custGeom>
              <a:avLst/>
              <a:gdLst/>
              <a:ahLst/>
              <a:cxnLst/>
              <a:rect r="r" b="b" t="t" l="l"/>
              <a:pathLst>
                <a:path h="78028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830" r="0" b="-21183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1048512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Category Inflow Heatmap (Matrix)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9601200" y="8723376"/>
            <a:ext cx="7863840" cy="585216"/>
            <a:chOff x="0" y="0"/>
            <a:chExt cx="10485120" cy="78028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0485120" cy="780288"/>
            </a:xfrm>
            <a:custGeom>
              <a:avLst/>
              <a:gdLst/>
              <a:ahLst/>
              <a:cxnLst/>
              <a:rect r="r" b="b" t="t" l="l"/>
              <a:pathLst>
                <a:path h="78028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830" r="0" b="-21183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1048512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Top 5 Categories by Net Inflow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645920"/>
            <a:chOff x="0" y="0"/>
            <a:chExt cx="24384000" cy="21945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182880"/>
            <a:ext cx="16824960" cy="1280160"/>
            <a:chOff x="0" y="0"/>
            <a:chExt cx="22433280" cy="17068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4332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089" r="0" b="-206089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22433280" cy="1792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Technical Stack &amp; Deliverables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65760" y="1920240"/>
            <a:ext cx="3200400" cy="694944"/>
            <a:chOff x="0" y="0"/>
            <a:chExt cx="4267200" cy="9265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67200" cy="926592"/>
            </a:xfrm>
            <a:custGeom>
              <a:avLst/>
              <a:gdLst/>
              <a:ahLst/>
              <a:cxnLst/>
              <a:rect r="r" b="b" t="t" l="l"/>
              <a:pathLst>
                <a:path h="926592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0D3B66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365760" y="1975104"/>
            <a:ext cx="3200400" cy="585216"/>
            <a:chOff x="0" y="0"/>
            <a:chExt cx="4267200" cy="78028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67200" cy="780288"/>
            </a:xfrm>
            <a:custGeom>
              <a:avLst/>
              <a:gdLst/>
              <a:ahLst/>
              <a:cxnLst/>
              <a:rect r="r" b="b" t="t" l="l"/>
              <a:pathLst>
                <a:path h="780288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558" r="0" b="-5655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26720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Processing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65760" y="2706624"/>
            <a:ext cx="3200400" cy="512064"/>
            <a:chOff x="0" y="0"/>
            <a:chExt cx="4267200" cy="68275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267200" cy="682752"/>
            </a:xfrm>
            <a:custGeom>
              <a:avLst/>
              <a:gdLst/>
              <a:ahLst/>
              <a:cxnLst/>
              <a:rect r="r" b="b" t="t" l="l"/>
              <a:pathLst>
                <a:path h="682752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2672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Python 3.10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65760" y="3291840"/>
            <a:ext cx="3200400" cy="512064"/>
            <a:chOff x="0" y="0"/>
            <a:chExt cx="4267200" cy="68275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267200" cy="682752"/>
            </a:xfrm>
            <a:custGeom>
              <a:avLst/>
              <a:gdLst/>
              <a:ahLst/>
              <a:cxnLst/>
              <a:rect r="r" b="b" t="t" l="l"/>
              <a:pathLst>
                <a:path h="682752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2672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Pandas 3.0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365760" y="3877056"/>
            <a:ext cx="3200400" cy="512064"/>
            <a:chOff x="0" y="0"/>
            <a:chExt cx="4267200" cy="68275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267200" cy="682752"/>
            </a:xfrm>
            <a:custGeom>
              <a:avLst/>
              <a:gdLst/>
              <a:ahLst/>
              <a:cxnLst/>
              <a:rect r="r" b="b" t="t" l="l"/>
              <a:pathLst>
                <a:path h="682752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42672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NumPy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365760" y="4462272"/>
            <a:ext cx="3200400" cy="512064"/>
            <a:chOff x="0" y="0"/>
            <a:chExt cx="4267200" cy="68275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267200" cy="682752"/>
            </a:xfrm>
            <a:custGeom>
              <a:avLst/>
              <a:gdLst/>
              <a:ahLst/>
              <a:cxnLst/>
              <a:rect r="r" b="b" t="t" l="l"/>
              <a:pathLst>
                <a:path h="682752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42672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SQLAlchemy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3895344" y="1920240"/>
            <a:ext cx="3200400" cy="694944"/>
            <a:chOff x="0" y="0"/>
            <a:chExt cx="4267200" cy="92659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267200" cy="926592"/>
            </a:xfrm>
            <a:custGeom>
              <a:avLst/>
              <a:gdLst/>
              <a:ahLst/>
              <a:cxnLst/>
              <a:rect r="r" b="b" t="t" l="l"/>
              <a:pathLst>
                <a:path h="926592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3895344" y="1975104"/>
            <a:ext cx="3200400" cy="585216"/>
            <a:chOff x="0" y="0"/>
            <a:chExt cx="4267200" cy="78028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267200" cy="780288"/>
            </a:xfrm>
            <a:custGeom>
              <a:avLst/>
              <a:gdLst/>
              <a:ahLst/>
              <a:cxnLst/>
              <a:rect r="r" b="b" t="t" l="l"/>
              <a:pathLst>
                <a:path h="780288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558" r="0" b="-5655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426720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Visualisation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3895344" y="2706624"/>
            <a:ext cx="3200400" cy="512064"/>
            <a:chOff x="0" y="0"/>
            <a:chExt cx="4267200" cy="68275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267200" cy="682752"/>
            </a:xfrm>
            <a:custGeom>
              <a:avLst/>
              <a:gdLst/>
              <a:ahLst/>
              <a:cxnLst/>
              <a:rect r="r" b="b" t="t" l="l"/>
              <a:pathLst>
                <a:path h="682752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42672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Matplotlib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3895344" y="3291840"/>
            <a:ext cx="3200400" cy="512064"/>
            <a:chOff x="0" y="0"/>
            <a:chExt cx="4267200" cy="68275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267200" cy="682752"/>
            </a:xfrm>
            <a:custGeom>
              <a:avLst/>
              <a:gdLst/>
              <a:ahLst/>
              <a:cxnLst/>
              <a:rect r="r" b="b" t="t" l="l"/>
              <a:pathLst>
                <a:path h="682752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42672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Seaborn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3895344" y="3877056"/>
            <a:ext cx="3200400" cy="512064"/>
            <a:chOff x="0" y="0"/>
            <a:chExt cx="4267200" cy="68275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267200" cy="682752"/>
            </a:xfrm>
            <a:custGeom>
              <a:avLst/>
              <a:gdLst/>
              <a:ahLst/>
              <a:cxnLst/>
              <a:rect r="r" b="b" t="t" l="l"/>
              <a:pathLst>
                <a:path h="682752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42672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Plotly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3895344" y="4462272"/>
            <a:ext cx="3200400" cy="512064"/>
            <a:chOff x="0" y="0"/>
            <a:chExt cx="4267200" cy="68275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267200" cy="682752"/>
            </a:xfrm>
            <a:custGeom>
              <a:avLst/>
              <a:gdLst/>
              <a:ahLst/>
              <a:cxnLst/>
              <a:rect r="r" b="b" t="t" l="l"/>
              <a:pathLst>
                <a:path h="682752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42672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Power BI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424928" y="1920240"/>
            <a:ext cx="3200400" cy="694944"/>
            <a:chOff x="0" y="0"/>
            <a:chExt cx="4267200" cy="92659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267200" cy="926592"/>
            </a:xfrm>
            <a:custGeom>
              <a:avLst/>
              <a:gdLst/>
              <a:ahLst/>
              <a:cxnLst/>
              <a:rect r="r" b="b" t="t" l="l"/>
              <a:pathLst>
                <a:path h="926592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0D47A1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7424928" y="1975104"/>
            <a:ext cx="3200400" cy="585216"/>
            <a:chOff x="0" y="0"/>
            <a:chExt cx="4267200" cy="78028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267200" cy="780288"/>
            </a:xfrm>
            <a:custGeom>
              <a:avLst/>
              <a:gdLst/>
              <a:ahLst/>
              <a:cxnLst/>
              <a:rect r="r" b="b" t="t" l="l"/>
              <a:pathLst>
                <a:path h="780288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558" r="0" b="-56558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426720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Analytics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7424928" y="2706624"/>
            <a:ext cx="3200400" cy="512064"/>
            <a:chOff x="0" y="0"/>
            <a:chExt cx="4267200" cy="68275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267200" cy="682752"/>
            </a:xfrm>
            <a:custGeom>
              <a:avLst/>
              <a:gdLst/>
              <a:ahLst/>
              <a:cxnLst/>
              <a:rect r="r" b="b" t="t" l="l"/>
              <a:pathLst>
                <a:path h="682752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42672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SciPy Stats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7424928" y="3291840"/>
            <a:ext cx="3200400" cy="512064"/>
            <a:chOff x="0" y="0"/>
            <a:chExt cx="4267200" cy="68275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267200" cy="682752"/>
            </a:xfrm>
            <a:custGeom>
              <a:avLst/>
              <a:gdLst/>
              <a:ahLst/>
              <a:cxnLst/>
              <a:rect r="r" b="b" t="t" l="l"/>
              <a:pathLst>
                <a:path h="682752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42672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OLS Regression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7424928" y="3877056"/>
            <a:ext cx="3200400" cy="512064"/>
            <a:chOff x="0" y="0"/>
            <a:chExt cx="4267200" cy="68275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267200" cy="682752"/>
            </a:xfrm>
            <a:custGeom>
              <a:avLst/>
              <a:gdLst/>
              <a:ahLst/>
              <a:cxnLst/>
              <a:rect r="r" b="b" t="t" l="l"/>
              <a:pathLst>
                <a:path h="682752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42672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Rolling Windows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7424928" y="4462272"/>
            <a:ext cx="3200400" cy="512064"/>
            <a:chOff x="0" y="0"/>
            <a:chExt cx="4267200" cy="68275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267200" cy="682752"/>
            </a:xfrm>
            <a:custGeom>
              <a:avLst/>
              <a:gdLst/>
              <a:ahLst/>
              <a:cxnLst/>
              <a:rect r="r" b="b" t="t" l="l"/>
              <a:pathLst>
                <a:path h="682752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42672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HHI Index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0954512" y="1920240"/>
            <a:ext cx="3200400" cy="694944"/>
            <a:chOff x="0" y="0"/>
            <a:chExt cx="4267200" cy="92659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267200" cy="926592"/>
            </a:xfrm>
            <a:custGeom>
              <a:avLst/>
              <a:gdLst/>
              <a:ahLst/>
              <a:cxnLst/>
              <a:rect r="r" b="b" t="t" l="l"/>
              <a:pathLst>
                <a:path h="926592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1976D2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0954512" y="1975104"/>
            <a:ext cx="3200400" cy="585216"/>
            <a:chOff x="0" y="0"/>
            <a:chExt cx="4267200" cy="78028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267200" cy="780288"/>
            </a:xfrm>
            <a:custGeom>
              <a:avLst/>
              <a:gdLst/>
              <a:ahLst/>
              <a:cxnLst/>
              <a:rect r="r" b="b" t="t" l="l"/>
              <a:pathLst>
                <a:path h="780288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558" r="0" b="-56558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426720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Database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0954512" y="2706624"/>
            <a:ext cx="3200400" cy="512064"/>
            <a:chOff x="0" y="0"/>
            <a:chExt cx="4267200" cy="682752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267200" cy="682752"/>
            </a:xfrm>
            <a:custGeom>
              <a:avLst/>
              <a:gdLst/>
              <a:ahLst/>
              <a:cxnLst/>
              <a:rect r="r" b="b" t="t" l="l"/>
              <a:pathLst>
                <a:path h="682752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42672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SQLite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0954512" y="3291840"/>
            <a:ext cx="3200400" cy="512064"/>
            <a:chOff x="0" y="0"/>
            <a:chExt cx="4267200" cy="68275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267200" cy="682752"/>
            </a:xfrm>
            <a:custGeom>
              <a:avLst/>
              <a:gdLst/>
              <a:ahLst/>
              <a:cxnLst/>
              <a:rect r="r" b="b" t="t" l="l"/>
              <a:pathLst>
                <a:path h="682752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42672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Star Schema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0954512" y="3877056"/>
            <a:ext cx="3200400" cy="512064"/>
            <a:chOff x="0" y="0"/>
            <a:chExt cx="4267200" cy="682752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267200" cy="682752"/>
            </a:xfrm>
            <a:custGeom>
              <a:avLst/>
              <a:gdLst/>
              <a:ahLst/>
              <a:cxnLst/>
              <a:rect r="r" b="b" t="t" l="l"/>
              <a:pathLst>
                <a:path h="682752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42672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 Tables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0954512" y="4462272"/>
            <a:ext cx="3200400" cy="512064"/>
            <a:chOff x="0" y="0"/>
            <a:chExt cx="4267200" cy="682752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4267200" cy="682752"/>
            </a:xfrm>
            <a:custGeom>
              <a:avLst/>
              <a:gdLst/>
              <a:ahLst/>
              <a:cxnLst/>
              <a:rect r="r" b="b" t="t" l="l"/>
              <a:pathLst>
                <a:path h="682752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42672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 SQL Queries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4484096" y="1920240"/>
            <a:ext cx="3200400" cy="694944"/>
            <a:chOff x="0" y="0"/>
            <a:chExt cx="4267200" cy="926592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4267200" cy="926592"/>
            </a:xfrm>
            <a:custGeom>
              <a:avLst/>
              <a:gdLst/>
              <a:ahLst/>
              <a:cxnLst/>
              <a:rect r="r" b="b" t="t" l="l"/>
              <a:pathLst>
                <a:path h="926592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283593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4484096" y="1975104"/>
            <a:ext cx="3200400" cy="585216"/>
            <a:chOff x="0" y="0"/>
            <a:chExt cx="4267200" cy="78028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267200" cy="780288"/>
            </a:xfrm>
            <a:custGeom>
              <a:avLst/>
              <a:gdLst/>
              <a:ahLst/>
              <a:cxnLst/>
              <a:rect r="r" b="b" t="t" l="l"/>
              <a:pathLst>
                <a:path h="780288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558" r="0" b="-56558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426720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Dev Tools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4484096" y="2706624"/>
            <a:ext cx="3200400" cy="512064"/>
            <a:chOff x="0" y="0"/>
            <a:chExt cx="4267200" cy="68275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267200" cy="682752"/>
            </a:xfrm>
            <a:custGeom>
              <a:avLst/>
              <a:gdLst/>
              <a:ahLst/>
              <a:cxnLst/>
              <a:rect r="r" b="b" t="t" l="l"/>
              <a:pathLst>
                <a:path h="682752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42672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Jupyter Lab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4484096" y="3291840"/>
            <a:ext cx="3200400" cy="512064"/>
            <a:chOff x="0" y="0"/>
            <a:chExt cx="4267200" cy="68275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4267200" cy="682752"/>
            </a:xfrm>
            <a:custGeom>
              <a:avLst/>
              <a:gdLst/>
              <a:ahLst/>
              <a:cxnLst/>
              <a:rect r="r" b="b" t="t" l="l"/>
              <a:pathLst>
                <a:path h="682752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42672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VS Code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4484096" y="3877056"/>
            <a:ext cx="3200400" cy="512064"/>
            <a:chOff x="0" y="0"/>
            <a:chExt cx="4267200" cy="68275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4267200" cy="682752"/>
            </a:xfrm>
            <a:custGeom>
              <a:avLst/>
              <a:gdLst/>
              <a:ahLst/>
              <a:cxnLst/>
              <a:rect r="r" b="b" t="t" l="l"/>
              <a:pathLst>
                <a:path h="682752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42672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Git + GitHub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4484096" y="4462272"/>
            <a:ext cx="3200400" cy="512064"/>
            <a:chOff x="0" y="0"/>
            <a:chExt cx="4267200" cy="682752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4267200" cy="682752"/>
            </a:xfrm>
            <a:custGeom>
              <a:avLst/>
              <a:gdLst/>
              <a:ahLst/>
              <a:cxnLst/>
              <a:rect r="r" b="b" t="t" l="l"/>
              <a:pathLst>
                <a:path h="682752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42672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Power Query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731520" y="5486400"/>
            <a:ext cx="16459200" cy="694944"/>
            <a:chOff x="0" y="0"/>
            <a:chExt cx="21945600" cy="926592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1945600" cy="926592"/>
            </a:xfrm>
            <a:custGeom>
              <a:avLst/>
              <a:gdLst/>
              <a:ahLst/>
              <a:cxnLst/>
              <a:rect r="r" b="b" t="t" l="l"/>
              <a:pathLst>
                <a:path h="92659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1487" r="0" b="-411487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47625"/>
              <a:ext cx="2194560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565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Project Deliverables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542287" y="6284719"/>
            <a:ext cx="17203417" cy="524761"/>
            <a:chOff x="0" y="0"/>
            <a:chExt cx="22937889" cy="699681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22937851" cy="699643"/>
            </a:xfrm>
            <a:custGeom>
              <a:avLst/>
              <a:gdLst/>
              <a:ahLst/>
              <a:cxnLst/>
              <a:rect r="r" b="b" t="t" l="l"/>
              <a:pathLst>
                <a:path h="699643" w="22937851">
                  <a:moveTo>
                    <a:pt x="0" y="0"/>
                  </a:moveTo>
                  <a:lnTo>
                    <a:pt x="22937851" y="0"/>
                  </a:lnTo>
                  <a:lnTo>
                    <a:pt x="22937851" y="699643"/>
                  </a:lnTo>
                  <a:lnTo>
                    <a:pt x="0" y="699643"/>
                  </a:lnTo>
                  <a:close/>
                </a:path>
              </a:pathLst>
            </a:custGeom>
            <a:solidFill>
              <a:srgbClr val="EAF3FC"/>
            </a:solidFill>
            <a:ln w="12700" cap="sq">
              <a:solidFill>
                <a:srgbClr val="D6E9FA"/>
              </a:solidFill>
              <a:prstDash val="solid"/>
              <a:miter/>
            </a:ln>
          </p:spPr>
        </p:sp>
      </p:grpSp>
      <p:grpSp>
        <p:nvGrpSpPr>
          <p:cNvPr name="Group 97" id="97"/>
          <p:cNvGrpSpPr/>
          <p:nvPr/>
        </p:nvGrpSpPr>
        <p:grpSpPr>
          <a:xfrm rot="0">
            <a:off x="731520" y="6345936"/>
            <a:ext cx="822960" cy="402336"/>
            <a:chOff x="0" y="0"/>
            <a:chExt cx="1097280" cy="536448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097280" cy="536448"/>
            </a:xfrm>
            <a:custGeom>
              <a:avLst/>
              <a:gdLst/>
              <a:ahLst/>
              <a:cxnLst/>
              <a:rect r="r" b="b" t="t" l="l"/>
              <a:pathLst>
                <a:path h="536448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726" t="0" r="-12726" b="0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38100"/>
              <a:ext cx="10972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1565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D1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1645920" y="6345936"/>
            <a:ext cx="10607040" cy="402336"/>
            <a:chOff x="0" y="0"/>
            <a:chExt cx="14142720" cy="536448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14142720" cy="536448"/>
            </a:xfrm>
            <a:custGeom>
              <a:avLst/>
              <a:gdLst/>
              <a:ahLst/>
              <a:cxnLst/>
              <a:rect r="r" b="b" t="t" l="l"/>
              <a:pathLst>
                <a:path h="536448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3696" r="0" b="-463696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38100"/>
              <a:ext cx="141427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data_ingestion.py, live_nav_fetch.py, data_cleaning.py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12344400" y="6345936"/>
            <a:ext cx="5303520" cy="402336"/>
            <a:chOff x="0" y="0"/>
            <a:chExt cx="7071360" cy="536448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7071360" cy="536448"/>
            </a:xfrm>
            <a:custGeom>
              <a:avLst/>
              <a:gdLst/>
              <a:ahLst/>
              <a:cxnLst/>
              <a:rect r="r" b="b" t="t" l="l"/>
              <a:pathLst>
                <a:path h="536448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848" r="0" b="-206848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38100"/>
              <a:ext cx="707136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0D47A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ETL Pipeline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542287" y="6851647"/>
            <a:ext cx="17203417" cy="524761"/>
            <a:chOff x="0" y="0"/>
            <a:chExt cx="22937889" cy="699681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22937851" cy="699643"/>
            </a:xfrm>
            <a:custGeom>
              <a:avLst/>
              <a:gdLst/>
              <a:ahLst/>
              <a:cxnLst/>
              <a:rect r="r" b="b" t="t" l="l"/>
              <a:pathLst>
                <a:path h="699643" w="22937851">
                  <a:moveTo>
                    <a:pt x="0" y="0"/>
                  </a:moveTo>
                  <a:lnTo>
                    <a:pt x="22937851" y="0"/>
                  </a:lnTo>
                  <a:lnTo>
                    <a:pt x="22937851" y="699643"/>
                  </a:lnTo>
                  <a:lnTo>
                    <a:pt x="0" y="699643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6E9FA"/>
              </a:solidFill>
              <a:prstDash val="solid"/>
              <a:miter/>
            </a:ln>
          </p:spPr>
        </p:sp>
      </p:grpSp>
      <p:grpSp>
        <p:nvGrpSpPr>
          <p:cNvPr name="Group 108" id="108"/>
          <p:cNvGrpSpPr/>
          <p:nvPr/>
        </p:nvGrpSpPr>
        <p:grpSpPr>
          <a:xfrm rot="0">
            <a:off x="731520" y="6912864"/>
            <a:ext cx="822960" cy="402336"/>
            <a:chOff x="0" y="0"/>
            <a:chExt cx="1097280" cy="536448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097280" cy="536448"/>
            </a:xfrm>
            <a:custGeom>
              <a:avLst/>
              <a:gdLst/>
              <a:ahLst/>
              <a:cxnLst/>
              <a:rect r="r" b="b" t="t" l="l"/>
              <a:pathLst>
                <a:path h="536448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726" t="0" r="-12726" b="0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38100"/>
              <a:ext cx="10972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1565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D2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1645920" y="6912864"/>
            <a:ext cx="10607040" cy="402336"/>
            <a:chOff x="0" y="0"/>
            <a:chExt cx="14142720" cy="536448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14142720" cy="536448"/>
            </a:xfrm>
            <a:custGeom>
              <a:avLst/>
              <a:gdLst/>
              <a:ahLst/>
              <a:cxnLst/>
              <a:rect r="r" b="b" t="t" l="l"/>
              <a:pathLst>
                <a:path h="536448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3696" r="0" b="-463696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38100"/>
              <a:ext cx="141427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bluestock_mf.db, schema.sql, queries.sql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12344400" y="6912864"/>
            <a:ext cx="5303520" cy="402336"/>
            <a:chOff x="0" y="0"/>
            <a:chExt cx="7071360" cy="536448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7071360" cy="536448"/>
            </a:xfrm>
            <a:custGeom>
              <a:avLst/>
              <a:gdLst/>
              <a:ahLst/>
              <a:cxnLst/>
              <a:rect r="r" b="b" t="t" l="l"/>
              <a:pathLst>
                <a:path h="536448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848" r="0" b="-206848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38100"/>
              <a:ext cx="707136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0D47A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SQLite Database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542287" y="7418575"/>
            <a:ext cx="17203417" cy="524761"/>
            <a:chOff x="0" y="0"/>
            <a:chExt cx="22937889" cy="699681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22937851" cy="699643"/>
            </a:xfrm>
            <a:custGeom>
              <a:avLst/>
              <a:gdLst/>
              <a:ahLst/>
              <a:cxnLst/>
              <a:rect r="r" b="b" t="t" l="l"/>
              <a:pathLst>
                <a:path h="699643" w="22937851">
                  <a:moveTo>
                    <a:pt x="0" y="0"/>
                  </a:moveTo>
                  <a:lnTo>
                    <a:pt x="22937851" y="0"/>
                  </a:lnTo>
                  <a:lnTo>
                    <a:pt x="22937851" y="699643"/>
                  </a:lnTo>
                  <a:lnTo>
                    <a:pt x="0" y="699643"/>
                  </a:lnTo>
                  <a:close/>
                </a:path>
              </a:pathLst>
            </a:custGeom>
            <a:solidFill>
              <a:srgbClr val="EAF3FC"/>
            </a:solidFill>
            <a:ln w="12700" cap="sq">
              <a:solidFill>
                <a:srgbClr val="D6E9FA"/>
              </a:solidFill>
              <a:prstDash val="solid"/>
              <a:miter/>
            </a:ln>
          </p:spPr>
        </p:sp>
      </p:grpSp>
      <p:grpSp>
        <p:nvGrpSpPr>
          <p:cNvPr name="Group 119" id="119"/>
          <p:cNvGrpSpPr/>
          <p:nvPr/>
        </p:nvGrpSpPr>
        <p:grpSpPr>
          <a:xfrm rot="0">
            <a:off x="731520" y="7479792"/>
            <a:ext cx="822960" cy="402336"/>
            <a:chOff x="0" y="0"/>
            <a:chExt cx="1097280" cy="536448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1097280" cy="536448"/>
            </a:xfrm>
            <a:custGeom>
              <a:avLst/>
              <a:gdLst/>
              <a:ahLst/>
              <a:cxnLst/>
              <a:rect r="r" b="b" t="t" l="l"/>
              <a:pathLst>
                <a:path h="536448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726" t="0" r="-12726" b="0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38100"/>
              <a:ext cx="10972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1565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D3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1645920" y="7479792"/>
            <a:ext cx="10607040" cy="402336"/>
            <a:chOff x="0" y="0"/>
            <a:chExt cx="14142720" cy="536448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14142720" cy="536448"/>
            </a:xfrm>
            <a:custGeom>
              <a:avLst/>
              <a:gdLst/>
              <a:ahLst/>
              <a:cxnLst/>
              <a:rect r="r" b="b" t="t" l="l"/>
              <a:pathLst>
                <a:path h="536448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3696" r="0" b="-463696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38100"/>
              <a:ext cx="141427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EDA_Analysis.ipynb (15+ charts)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12344400" y="7479792"/>
            <a:ext cx="5303520" cy="402336"/>
            <a:chOff x="0" y="0"/>
            <a:chExt cx="7071360" cy="536448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7071360" cy="536448"/>
            </a:xfrm>
            <a:custGeom>
              <a:avLst/>
              <a:gdLst/>
              <a:ahLst/>
              <a:cxnLst/>
              <a:rect r="r" b="b" t="t" l="l"/>
              <a:pathLst>
                <a:path h="536448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848" r="0" b="-206848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38100"/>
              <a:ext cx="707136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0D47A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EDA Notebook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542287" y="7985503"/>
            <a:ext cx="17203417" cy="524761"/>
            <a:chOff x="0" y="0"/>
            <a:chExt cx="22937889" cy="699681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22937851" cy="699643"/>
            </a:xfrm>
            <a:custGeom>
              <a:avLst/>
              <a:gdLst/>
              <a:ahLst/>
              <a:cxnLst/>
              <a:rect r="r" b="b" t="t" l="l"/>
              <a:pathLst>
                <a:path h="699643" w="22937851">
                  <a:moveTo>
                    <a:pt x="0" y="0"/>
                  </a:moveTo>
                  <a:lnTo>
                    <a:pt x="22937851" y="0"/>
                  </a:lnTo>
                  <a:lnTo>
                    <a:pt x="22937851" y="699643"/>
                  </a:lnTo>
                  <a:lnTo>
                    <a:pt x="0" y="699643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6E9FA"/>
              </a:solidFill>
              <a:prstDash val="solid"/>
              <a:miter/>
            </a:ln>
          </p:spPr>
        </p:sp>
      </p:grpSp>
      <p:grpSp>
        <p:nvGrpSpPr>
          <p:cNvPr name="Group 130" id="130"/>
          <p:cNvGrpSpPr/>
          <p:nvPr/>
        </p:nvGrpSpPr>
        <p:grpSpPr>
          <a:xfrm rot="0">
            <a:off x="731520" y="8046720"/>
            <a:ext cx="822960" cy="402336"/>
            <a:chOff x="0" y="0"/>
            <a:chExt cx="1097280" cy="536448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1097280" cy="536448"/>
            </a:xfrm>
            <a:custGeom>
              <a:avLst/>
              <a:gdLst/>
              <a:ahLst/>
              <a:cxnLst/>
              <a:rect r="r" b="b" t="t" l="l"/>
              <a:pathLst>
                <a:path h="536448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726" t="0" r="-12726" b="0"/>
              </a:stretch>
            </a:blipFill>
          </p:spPr>
        </p:sp>
        <p:sp>
          <p:nvSpPr>
            <p:cNvPr name="TextBox 132" id="132"/>
            <p:cNvSpPr txBox="true"/>
            <p:nvPr/>
          </p:nvSpPr>
          <p:spPr>
            <a:xfrm>
              <a:off x="0" y="-38100"/>
              <a:ext cx="10972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1565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D4</a:t>
              </a:r>
            </a:p>
          </p:txBody>
        </p:sp>
      </p:grpSp>
      <p:grpSp>
        <p:nvGrpSpPr>
          <p:cNvPr name="Group 133" id="133"/>
          <p:cNvGrpSpPr/>
          <p:nvPr/>
        </p:nvGrpSpPr>
        <p:grpSpPr>
          <a:xfrm rot="0">
            <a:off x="1645920" y="8046720"/>
            <a:ext cx="10607040" cy="402336"/>
            <a:chOff x="0" y="0"/>
            <a:chExt cx="14142720" cy="536448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14142720" cy="536448"/>
            </a:xfrm>
            <a:custGeom>
              <a:avLst/>
              <a:gdLst/>
              <a:ahLst/>
              <a:cxnLst/>
              <a:rect r="r" b="b" t="t" l="l"/>
              <a:pathLst>
                <a:path h="536448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3696" r="0" b="-463696"/>
              </a:stretch>
            </a:blipFill>
          </p:spPr>
        </p:sp>
        <p:sp>
          <p:nvSpPr>
            <p:cNvPr name="TextBox 135" id="135"/>
            <p:cNvSpPr txBox="true"/>
            <p:nvPr/>
          </p:nvSpPr>
          <p:spPr>
            <a:xfrm>
              <a:off x="0" y="-38100"/>
              <a:ext cx="141427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Performance_Analytics.ipynb, fund_scorecard.csv, alpha_beta.csv</a:t>
              </a:r>
            </a:p>
          </p:txBody>
        </p:sp>
      </p:grpSp>
      <p:grpSp>
        <p:nvGrpSpPr>
          <p:cNvPr name="Group 136" id="136"/>
          <p:cNvGrpSpPr/>
          <p:nvPr/>
        </p:nvGrpSpPr>
        <p:grpSpPr>
          <a:xfrm rot="0">
            <a:off x="12344400" y="8046720"/>
            <a:ext cx="5303520" cy="402336"/>
            <a:chOff x="0" y="0"/>
            <a:chExt cx="7071360" cy="536448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7071360" cy="536448"/>
            </a:xfrm>
            <a:custGeom>
              <a:avLst/>
              <a:gdLst/>
              <a:ahLst/>
              <a:cxnLst/>
              <a:rect r="r" b="b" t="t" l="l"/>
              <a:pathLst>
                <a:path h="536448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848" r="0" b="-206848"/>
              </a:stretch>
            </a:blipFill>
          </p:spPr>
        </p:sp>
        <p:sp>
          <p:nvSpPr>
            <p:cNvPr name="TextBox 138" id="138"/>
            <p:cNvSpPr txBox="true"/>
            <p:nvPr/>
          </p:nvSpPr>
          <p:spPr>
            <a:xfrm>
              <a:off x="0" y="-38100"/>
              <a:ext cx="707136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0D47A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Performance Metrics</a:t>
              </a:r>
            </a:p>
          </p:txBody>
        </p:sp>
      </p:grpSp>
      <p:grpSp>
        <p:nvGrpSpPr>
          <p:cNvPr name="Group 139" id="139"/>
          <p:cNvGrpSpPr/>
          <p:nvPr/>
        </p:nvGrpSpPr>
        <p:grpSpPr>
          <a:xfrm rot="0">
            <a:off x="542287" y="8552431"/>
            <a:ext cx="17203417" cy="524761"/>
            <a:chOff x="0" y="0"/>
            <a:chExt cx="22937889" cy="699681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22937851" cy="699643"/>
            </a:xfrm>
            <a:custGeom>
              <a:avLst/>
              <a:gdLst/>
              <a:ahLst/>
              <a:cxnLst/>
              <a:rect r="r" b="b" t="t" l="l"/>
              <a:pathLst>
                <a:path h="699643" w="22937851">
                  <a:moveTo>
                    <a:pt x="0" y="0"/>
                  </a:moveTo>
                  <a:lnTo>
                    <a:pt x="22937851" y="0"/>
                  </a:lnTo>
                  <a:lnTo>
                    <a:pt x="22937851" y="699643"/>
                  </a:lnTo>
                  <a:lnTo>
                    <a:pt x="0" y="699643"/>
                  </a:lnTo>
                  <a:close/>
                </a:path>
              </a:pathLst>
            </a:custGeom>
            <a:solidFill>
              <a:srgbClr val="EAF3FC"/>
            </a:solidFill>
            <a:ln w="12700" cap="sq">
              <a:solidFill>
                <a:srgbClr val="D6E9FA"/>
              </a:solidFill>
              <a:prstDash val="solid"/>
              <a:miter/>
            </a:ln>
          </p:spPr>
        </p:sp>
      </p:grpSp>
      <p:grpSp>
        <p:nvGrpSpPr>
          <p:cNvPr name="Group 141" id="141"/>
          <p:cNvGrpSpPr/>
          <p:nvPr/>
        </p:nvGrpSpPr>
        <p:grpSpPr>
          <a:xfrm rot="0">
            <a:off x="731520" y="8613648"/>
            <a:ext cx="822960" cy="402336"/>
            <a:chOff x="0" y="0"/>
            <a:chExt cx="1097280" cy="536448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1097280" cy="536448"/>
            </a:xfrm>
            <a:custGeom>
              <a:avLst/>
              <a:gdLst/>
              <a:ahLst/>
              <a:cxnLst/>
              <a:rect r="r" b="b" t="t" l="l"/>
              <a:pathLst>
                <a:path h="536448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726" t="0" r="-12726" b="0"/>
              </a:stretch>
            </a:blipFill>
          </p:spPr>
        </p:sp>
        <p:sp>
          <p:nvSpPr>
            <p:cNvPr name="TextBox 143" id="143"/>
            <p:cNvSpPr txBox="true"/>
            <p:nvPr/>
          </p:nvSpPr>
          <p:spPr>
            <a:xfrm>
              <a:off x="0" y="-38100"/>
              <a:ext cx="10972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1565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D5</a:t>
              </a:r>
            </a:p>
          </p:txBody>
        </p:sp>
      </p:grpSp>
      <p:grpSp>
        <p:nvGrpSpPr>
          <p:cNvPr name="Group 144" id="144"/>
          <p:cNvGrpSpPr/>
          <p:nvPr/>
        </p:nvGrpSpPr>
        <p:grpSpPr>
          <a:xfrm rot="0">
            <a:off x="1645920" y="8613648"/>
            <a:ext cx="10607040" cy="402336"/>
            <a:chOff x="0" y="0"/>
            <a:chExt cx="14142720" cy="536448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14142720" cy="536448"/>
            </a:xfrm>
            <a:custGeom>
              <a:avLst/>
              <a:gdLst/>
              <a:ahLst/>
              <a:cxnLst/>
              <a:rect r="r" b="b" t="t" l="l"/>
              <a:pathLst>
                <a:path h="536448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3696" r="0" b="-463696"/>
              </a:stretch>
            </a:blipFill>
          </p:spPr>
        </p:sp>
        <p:sp>
          <p:nvSpPr>
            <p:cNvPr name="TextBox 146" id="146"/>
            <p:cNvSpPr txBox="true"/>
            <p:nvPr/>
          </p:nvSpPr>
          <p:spPr>
            <a:xfrm>
              <a:off x="0" y="-38100"/>
              <a:ext cx="141427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bluestock_mf_dashboard.pbix, Dashboard.pdf</a:t>
              </a:r>
            </a:p>
          </p:txBody>
        </p:sp>
      </p:grpSp>
      <p:grpSp>
        <p:nvGrpSpPr>
          <p:cNvPr name="Group 147" id="147"/>
          <p:cNvGrpSpPr/>
          <p:nvPr/>
        </p:nvGrpSpPr>
        <p:grpSpPr>
          <a:xfrm rot="0">
            <a:off x="12344400" y="8613648"/>
            <a:ext cx="5303520" cy="402336"/>
            <a:chOff x="0" y="0"/>
            <a:chExt cx="7071360" cy="536448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7071360" cy="536448"/>
            </a:xfrm>
            <a:custGeom>
              <a:avLst/>
              <a:gdLst/>
              <a:ahLst/>
              <a:cxnLst/>
              <a:rect r="r" b="b" t="t" l="l"/>
              <a:pathLst>
                <a:path h="536448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848" r="0" b="-206848"/>
              </a:stretch>
            </a:blipFill>
          </p:spPr>
        </p:sp>
        <p:sp>
          <p:nvSpPr>
            <p:cNvPr name="TextBox 149" id="149"/>
            <p:cNvSpPr txBox="true"/>
            <p:nvPr/>
          </p:nvSpPr>
          <p:spPr>
            <a:xfrm>
              <a:off x="0" y="-38100"/>
              <a:ext cx="707136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0D47A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Power BI Dashboard</a:t>
              </a:r>
            </a:p>
          </p:txBody>
        </p:sp>
      </p:grpSp>
      <p:grpSp>
        <p:nvGrpSpPr>
          <p:cNvPr name="Group 150" id="150"/>
          <p:cNvGrpSpPr/>
          <p:nvPr/>
        </p:nvGrpSpPr>
        <p:grpSpPr>
          <a:xfrm rot="0">
            <a:off x="542287" y="9119359"/>
            <a:ext cx="17203417" cy="524761"/>
            <a:chOff x="0" y="0"/>
            <a:chExt cx="22937889" cy="699681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22937851" cy="699643"/>
            </a:xfrm>
            <a:custGeom>
              <a:avLst/>
              <a:gdLst/>
              <a:ahLst/>
              <a:cxnLst/>
              <a:rect r="r" b="b" t="t" l="l"/>
              <a:pathLst>
                <a:path h="699643" w="22937851">
                  <a:moveTo>
                    <a:pt x="0" y="0"/>
                  </a:moveTo>
                  <a:lnTo>
                    <a:pt x="22937851" y="0"/>
                  </a:lnTo>
                  <a:lnTo>
                    <a:pt x="22937851" y="699643"/>
                  </a:lnTo>
                  <a:lnTo>
                    <a:pt x="0" y="699643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6E9FA"/>
              </a:solidFill>
              <a:prstDash val="solid"/>
              <a:miter/>
            </a:ln>
          </p:spPr>
        </p:sp>
      </p:grpSp>
      <p:grpSp>
        <p:nvGrpSpPr>
          <p:cNvPr name="Group 152" id="152"/>
          <p:cNvGrpSpPr/>
          <p:nvPr/>
        </p:nvGrpSpPr>
        <p:grpSpPr>
          <a:xfrm rot="0">
            <a:off x="731520" y="9180576"/>
            <a:ext cx="822960" cy="402336"/>
            <a:chOff x="0" y="0"/>
            <a:chExt cx="1097280" cy="536448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1097280" cy="536448"/>
            </a:xfrm>
            <a:custGeom>
              <a:avLst/>
              <a:gdLst/>
              <a:ahLst/>
              <a:cxnLst/>
              <a:rect r="r" b="b" t="t" l="l"/>
              <a:pathLst>
                <a:path h="536448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726" t="0" r="-12726" b="0"/>
              </a:stretch>
            </a:blipFill>
          </p:spPr>
        </p:sp>
        <p:sp>
          <p:nvSpPr>
            <p:cNvPr name="TextBox 154" id="154"/>
            <p:cNvSpPr txBox="true"/>
            <p:nvPr/>
          </p:nvSpPr>
          <p:spPr>
            <a:xfrm>
              <a:off x="0" y="-38100"/>
              <a:ext cx="10972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1565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D6</a:t>
              </a:r>
            </a:p>
          </p:txBody>
        </p:sp>
      </p:grpSp>
      <p:grpSp>
        <p:nvGrpSpPr>
          <p:cNvPr name="Group 155" id="155"/>
          <p:cNvGrpSpPr/>
          <p:nvPr/>
        </p:nvGrpSpPr>
        <p:grpSpPr>
          <a:xfrm rot="0">
            <a:off x="1645920" y="9180576"/>
            <a:ext cx="10607040" cy="402336"/>
            <a:chOff x="0" y="0"/>
            <a:chExt cx="14142720" cy="536448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14142720" cy="536448"/>
            </a:xfrm>
            <a:custGeom>
              <a:avLst/>
              <a:gdLst/>
              <a:ahLst/>
              <a:cxnLst/>
              <a:rect r="r" b="b" t="t" l="l"/>
              <a:pathLst>
                <a:path h="536448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3696" r="0" b="-463696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-38100"/>
              <a:ext cx="141427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Advanced_Analytics.ipynb, var_cvar_report.csv, recommender.py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12344400" y="9180576"/>
            <a:ext cx="5303520" cy="402336"/>
            <a:chOff x="0" y="0"/>
            <a:chExt cx="7071360" cy="536448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7071360" cy="536448"/>
            </a:xfrm>
            <a:custGeom>
              <a:avLst/>
              <a:gdLst/>
              <a:ahLst/>
              <a:cxnLst/>
              <a:rect r="r" b="b" t="t" l="l"/>
              <a:pathLst>
                <a:path h="536448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848" r="0" b="-206848"/>
              </a:stretch>
            </a:blipFill>
          </p:spPr>
        </p:sp>
        <p:sp>
          <p:nvSpPr>
            <p:cNvPr name="TextBox 160" id="160"/>
            <p:cNvSpPr txBox="true"/>
            <p:nvPr/>
          </p:nvSpPr>
          <p:spPr>
            <a:xfrm>
              <a:off x="0" y="-38100"/>
              <a:ext cx="707136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0D47A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Advanced Analytics</a:t>
              </a:r>
            </a:p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542287" y="9686287"/>
            <a:ext cx="17203417" cy="524761"/>
            <a:chOff x="0" y="0"/>
            <a:chExt cx="22937889" cy="699681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22937851" cy="699643"/>
            </a:xfrm>
            <a:custGeom>
              <a:avLst/>
              <a:gdLst/>
              <a:ahLst/>
              <a:cxnLst/>
              <a:rect r="r" b="b" t="t" l="l"/>
              <a:pathLst>
                <a:path h="699643" w="22937851">
                  <a:moveTo>
                    <a:pt x="0" y="0"/>
                  </a:moveTo>
                  <a:lnTo>
                    <a:pt x="22937851" y="0"/>
                  </a:lnTo>
                  <a:lnTo>
                    <a:pt x="22937851" y="699643"/>
                  </a:lnTo>
                  <a:lnTo>
                    <a:pt x="0" y="699643"/>
                  </a:lnTo>
                  <a:close/>
                </a:path>
              </a:pathLst>
            </a:custGeom>
            <a:solidFill>
              <a:srgbClr val="EAF3FC"/>
            </a:solidFill>
            <a:ln w="12700" cap="sq">
              <a:solidFill>
                <a:srgbClr val="D6E9FA"/>
              </a:solidFill>
              <a:prstDash val="solid"/>
              <a:miter/>
            </a:ln>
          </p:spPr>
        </p:sp>
      </p:grpSp>
      <p:grpSp>
        <p:nvGrpSpPr>
          <p:cNvPr name="Group 163" id="163"/>
          <p:cNvGrpSpPr/>
          <p:nvPr/>
        </p:nvGrpSpPr>
        <p:grpSpPr>
          <a:xfrm rot="0">
            <a:off x="731520" y="9747504"/>
            <a:ext cx="822960" cy="402336"/>
            <a:chOff x="0" y="0"/>
            <a:chExt cx="1097280" cy="536448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1097280" cy="536448"/>
            </a:xfrm>
            <a:custGeom>
              <a:avLst/>
              <a:gdLst/>
              <a:ahLst/>
              <a:cxnLst/>
              <a:rect r="r" b="b" t="t" l="l"/>
              <a:pathLst>
                <a:path h="536448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726" t="0" r="-12726" b="0"/>
              </a:stretch>
            </a:blipFill>
          </p:spPr>
        </p:sp>
        <p:sp>
          <p:nvSpPr>
            <p:cNvPr name="TextBox 165" id="165"/>
            <p:cNvSpPr txBox="true"/>
            <p:nvPr/>
          </p:nvSpPr>
          <p:spPr>
            <a:xfrm>
              <a:off x="0" y="-38100"/>
              <a:ext cx="10972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1565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D7</a:t>
              </a:r>
            </a:p>
          </p:txBody>
        </p:sp>
      </p:grpSp>
      <p:grpSp>
        <p:nvGrpSpPr>
          <p:cNvPr name="Group 166" id="166"/>
          <p:cNvGrpSpPr/>
          <p:nvPr/>
        </p:nvGrpSpPr>
        <p:grpSpPr>
          <a:xfrm rot="0">
            <a:off x="1645920" y="9747504"/>
            <a:ext cx="10607040" cy="402336"/>
            <a:chOff x="0" y="0"/>
            <a:chExt cx="14142720" cy="536448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14142720" cy="536448"/>
            </a:xfrm>
            <a:custGeom>
              <a:avLst/>
              <a:gdLst/>
              <a:ahLst/>
              <a:cxnLst/>
              <a:rect r="r" b="b" t="t" l="l"/>
              <a:pathLst>
                <a:path h="536448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3696" r="0" b="-463696"/>
              </a:stretch>
            </a:blipFill>
          </p:spPr>
        </p:sp>
        <p:sp>
          <p:nvSpPr>
            <p:cNvPr name="TextBox 168" id="168"/>
            <p:cNvSpPr txBox="true"/>
            <p:nvPr/>
          </p:nvSpPr>
          <p:spPr>
            <a:xfrm>
              <a:off x="0" y="-38100"/>
              <a:ext cx="141427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Final_Report.docx, Presentation.pptx</a:t>
              </a:r>
            </a:p>
          </p:txBody>
        </p:sp>
      </p:grpSp>
      <p:grpSp>
        <p:nvGrpSpPr>
          <p:cNvPr name="Group 169" id="169"/>
          <p:cNvGrpSpPr/>
          <p:nvPr/>
        </p:nvGrpSpPr>
        <p:grpSpPr>
          <a:xfrm rot="0">
            <a:off x="12344400" y="9747504"/>
            <a:ext cx="5303520" cy="402336"/>
            <a:chOff x="0" y="0"/>
            <a:chExt cx="7071360" cy="536448"/>
          </a:xfrm>
        </p:grpSpPr>
        <p:sp>
          <p:nvSpPr>
            <p:cNvPr name="Freeform 170" id="170"/>
            <p:cNvSpPr/>
            <p:nvPr/>
          </p:nvSpPr>
          <p:spPr>
            <a:xfrm flipH="false" flipV="false" rot="0">
              <a:off x="0" y="0"/>
              <a:ext cx="7071360" cy="536448"/>
            </a:xfrm>
            <a:custGeom>
              <a:avLst/>
              <a:gdLst/>
              <a:ahLst/>
              <a:cxnLst/>
              <a:rect r="r" b="b" t="t" l="l"/>
              <a:pathLst>
                <a:path h="536448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848" r="0" b="-206848"/>
              </a:stretch>
            </a:blipFill>
          </p:spPr>
        </p:sp>
        <p:sp>
          <p:nvSpPr>
            <p:cNvPr name="TextBox 171" id="171"/>
            <p:cNvSpPr txBox="true"/>
            <p:nvPr/>
          </p:nvSpPr>
          <p:spPr>
            <a:xfrm>
              <a:off x="0" y="-38100"/>
              <a:ext cx="707136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0D47A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Report &amp; Slides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645920"/>
            <a:chOff x="0" y="0"/>
            <a:chExt cx="24384000" cy="21945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0D3B6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182880"/>
            <a:ext cx="16824960" cy="1280160"/>
            <a:chOff x="0" y="0"/>
            <a:chExt cx="22433280" cy="17068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4332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089" r="0" b="-206089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22433280" cy="1783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 Key Insights &amp; Business Recommendations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44503" y="1816103"/>
            <a:ext cx="8437883" cy="1451867"/>
            <a:chOff x="0" y="0"/>
            <a:chExt cx="11250511" cy="193582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250549" cy="1935861"/>
            </a:xfrm>
            <a:custGeom>
              <a:avLst/>
              <a:gdLst/>
              <a:ahLst/>
              <a:cxnLst/>
              <a:rect r="r" b="b" t="t" l="l"/>
              <a:pathLst>
                <a:path h="1935861" w="11250549">
                  <a:moveTo>
                    <a:pt x="0" y="0"/>
                  </a:moveTo>
                  <a:lnTo>
                    <a:pt x="11250549" y="0"/>
                  </a:lnTo>
                  <a:lnTo>
                    <a:pt x="11250549" y="1935861"/>
                  </a:lnTo>
                  <a:lnTo>
                    <a:pt x="0" y="1935861"/>
                  </a:lnTo>
                  <a:close/>
                </a:path>
              </a:pathLst>
            </a:custGeom>
            <a:solidFill>
              <a:srgbClr val="EAF3FC"/>
            </a:solidFill>
            <a:ln w="25400" cap="sq">
              <a:solidFill>
                <a:srgbClr val="0D3B66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603504" y="1975104"/>
            <a:ext cx="640080" cy="1097280"/>
            <a:chOff x="0" y="0"/>
            <a:chExt cx="853440" cy="14630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534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9948" t="0" r="-169948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85344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0D3B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35024" y="1975104"/>
            <a:ext cx="7315200" cy="1133856"/>
            <a:chOff x="0" y="0"/>
            <a:chExt cx="9753600" cy="15118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753600" cy="1511808"/>
            </a:xfrm>
            <a:custGeom>
              <a:avLst/>
              <a:gdLst/>
              <a:ahLst/>
              <a:cxnLst/>
              <a:rect r="r" b="b" t="t" l="l"/>
              <a:pathLst>
                <a:path h="151180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709" r="0" b="-75709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9753600" cy="1549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SIP inflows grew 3x to ₹31,002 Cr in 4 years — retail participation is at all-time high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314183" y="1816103"/>
            <a:ext cx="8437883" cy="1451867"/>
            <a:chOff x="0" y="0"/>
            <a:chExt cx="11250511" cy="193582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250549" cy="1935861"/>
            </a:xfrm>
            <a:custGeom>
              <a:avLst/>
              <a:gdLst/>
              <a:ahLst/>
              <a:cxnLst/>
              <a:rect r="r" b="b" t="t" l="l"/>
              <a:pathLst>
                <a:path h="1935861" w="11250549">
                  <a:moveTo>
                    <a:pt x="0" y="0"/>
                  </a:moveTo>
                  <a:lnTo>
                    <a:pt x="11250549" y="0"/>
                  </a:lnTo>
                  <a:lnTo>
                    <a:pt x="11250549" y="1935861"/>
                  </a:lnTo>
                  <a:lnTo>
                    <a:pt x="0" y="1935861"/>
                  </a:lnTo>
                  <a:close/>
                </a:path>
              </a:pathLst>
            </a:custGeom>
            <a:solidFill>
              <a:srgbClr val="EAF3FC"/>
            </a:solidFill>
            <a:ln w="25400" cap="sq">
              <a:solidFill>
                <a:srgbClr val="1565C0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9473184" y="1975104"/>
            <a:ext cx="640080" cy="1097280"/>
            <a:chOff x="0" y="0"/>
            <a:chExt cx="853440" cy="14630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534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9948" t="0" r="-169948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85344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1565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204704" y="1975104"/>
            <a:ext cx="7315200" cy="1133856"/>
            <a:chOff x="0" y="0"/>
            <a:chExt cx="9753600" cy="151180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753600" cy="1511808"/>
            </a:xfrm>
            <a:custGeom>
              <a:avLst/>
              <a:gdLst/>
              <a:ahLst/>
              <a:cxnLst/>
              <a:rect r="r" b="b" t="t" l="l"/>
              <a:pathLst>
                <a:path h="151180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709" r="0" b="-75709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9753600" cy="1549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SBI MF dominates at ₹12.5L Cr AUM — 2x nearest competitor — driven by retail reach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44503" y="3425447"/>
            <a:ext cx="8437883" cy="1451867"/>
            <a:chOff x="0" y="0"/>
            <a:chExt cx="11250511" cy="193582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250549" cy="1935861"/>
            </a:xfrm>
            <a:custGeom>
              <a:avLst/>
              <a:gdLst/>
              <a:ahLst/>
              <a:cxnLst/>
              <a:rect r="r" b="b" t="t" l="l"/>
              <a:pathLst>
                <a:path h="1935861" w="11250549">
                  <a:moveTo>
                    <a:pt x="0" y="0"/>
                  </a:moveTo>
                  <a:lnTo>
                    <a:pt x="11250549" y="0"/>
                  </a:lnTo>
                  <a:lnTo>
                    <a:pt x="11250549" y="1935861"/>
                  </a:lnTo>
                  <a:lnTo>
                    <a:pt x="0" y="1935861"/>
                  </a:lnTo>
                  <a:close/>
                </a:path>
              </a:pathLst>
            </a:custGeom>
            <a:solidFill>
              <a:srgbClr val="EAF3FC"/>
            </a:solidFill>
            <a:ln w="25400" cap="sq">
              <a:solidFill>
                <a:srgbClr val="0D47A1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603504" y="3584448"/>
            <a:ext cx="640080" cy="1097280"/>
            <a:chOff x="0" y="0"/>
            <a:chExt cx="853440" cy="14630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534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9948" t="0" r="-169948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85344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0D47A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335024" y="3584448"/>
            <a:ext cx="7315200" cy="1133856"/>
            <a:chOff x="0" y="0"/>
            <a:chExt cx="9753600" cy="151180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753600" cy="1511808"/>
            </a:xfrm>
            <a:custGeom>
              <a:avLst/>
              <a:gdLst/>
              <a:ahLst/>
              <a:cxnLst/>
              <a:rect r="r" b="b" t="t" l="l"/>
              <a:pathLst>
                <a:path h="151180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709" r="0" b="-75709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9753600" cy="1549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Positive average alpha of +1.254% means most funds beat NIFTY100 on risk-adjusted basis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314183" y="3425447"/>
            <a:ext cx="8437883" cy="1451867"/>
            <a:chOff x="0" y="0"/>
            <a:chExt cx="11250511" cy="193582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250549" cy="1935861"/>
            </a:xfrm>
            <a:custGeom>
              <a:avLst/>
              <a:gdLst/>
              <a:ahLst/>
              <a:cxnLst/>
              <a:rect r="r" b="b" t="t" l="l"/>
              <a:pathLst>
                <a:path h="1935861" w="11250549">
                  <a:moveTo>
                    <a:pt x="0" y="0"/>
                  </a:moveTo>
                  <a:lnTo>
                    <a:pt x="11250549" y="0"/>
                  </a:lnTo>
                  <a:lnTo>
                    <a:pt x="11250549" y="1935861"/>
                  </a:lnTo>
                  <a:lnTo>
                    <a:pt x="0" y="1935861"/>
                  </a:lnTo>
                  <a:close/>
                </a:path>
              </a:pathLst>
            </a:custGeom>
            <a:solidFill>
              <a:srgbClr val="EAF3FC"/>
            </a:solidFill>
            <a:ln w="25400" cap="sq">
              <a:solidFill>
                <a:srgbClr val="1976D2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9473184" y="3584448"/>
            <a:ext cx="640080" cy="1097280"/>
            <a:chOff x="0" y="0"/>
            <a:chExt cx="853440" cy="14630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534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9948" t="0" r="-169948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57150"/>
              <a:ext cx="85344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1976D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204704" y="3584448"/>
            <a:ext cx="7315200" cy="1133856"/>
            <a:chOff x="0" y="0"/>
            <a:chExt cx="9753600" cy="151180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753600" cy="1511808"/>
            </a:xfrm>
            <a:custGeom>
              <a:avLst/>
              <a:gdLst/>
              <a:ahLst/>
              <a:cxnLst/>
              <a:rect r="r" b="b" t="t" l="l"/>
              <a:pathLst>
                <a:path h="151180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709" r="0" b="-75709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9753600" cy="1549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Direct plans cost 1%+ less annually — investors in Regular plans are overpaying significantly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444503" y="5034791"/>
            <a:ext cx="8437883" cy="1451867"/>
            <a:chOff x="0" y="0"/>
            <a:chExt cx="11250511" cy="193582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1250549" cy="1935861"/>
            </a:xfrm>
            <a:custGeom>
              <a:avLst/>
              <a:gdLst/>
              <a:ahLst/>
              <a:cxnLst/>
              <a:rect r="r" b="b" t="t" l="l"/>
              <a:pathLst>
                <a:path h="1935861" w="11250549">
                  <a:moveTo>
                    <a:pt x="0" y="0"/>
                  </a:moveTo>
                  <a:lnTo>
                    <a:pt x="11250549" y="0"/>
                  </a:lnTo>
                  <a:lnTo>
                    <a:pt x="11250549" y="1935861"/>
                  </a:lnTo>
                  <a:lnTo>
                    <a:pt x="0" y="1935861"/>
                  </a:lnTo>
                  <a:close/>
                </a:path>
              </a:pathLst>
            </a:custGeom>
            <a:solidFill>
              <a:srgbClr val="EAF3FC"/>
            </a:solidFill>
            <a:ln w="25400" cap="sq">
              <a:solidFill>
                <a:srgbClr val="283593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603504" y="5193792"/>
            <a:ext cx="640080" cy="1097280"/>
            <a:chOff x="0" y="0"/>
            <a:chExt cx="853440" cy="14630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534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9948" t="0" r="-169948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57150"/>
              <a:ext cx="85344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2835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35024" y="5193792"/>
            <a:ext cx="7315200" cy="1133856"/>
            <a:chOff x="0" y="0"/>
            <a:chExt cx="9753600" cy="151180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753600" cy="1511808"/>
            </a:xfrm>
            <a:custGeom>
              <a:avLst/>
              <a:gdLst/>
              <a:ahLst/>
              <a:cxnLst/>
              <a:rect r="r" b="b" t="t" l="l"/>
              <a:pathLst>
                <a:path h="151180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709" r="0" b="-75709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9753600" cy="1549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Industry folios doubled in 4 years — digital onboarding is driving new investor growth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314183" y="5034791"/>
            <a:ext cx="8437883" cy="1451867"/>
            <a:chOff x="0" y="0"/>
            <a:chExt cx="11250511" cy="1935823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1250549" cy="1935861"/>
            </a:xfrm>
            <a:custGeom>
              <a:avLst/>
              <a:gdLst/>
              <a:ahLst/>
              <a:cxnLst/>
              <a:rect r="r" b="b" t="t" l="l"/>
              <a:pathLst>
                <a:path h="1935861" w="11250549">
                  <a:moveTo>
                    <a:pt x="0" y="0"/>
                  </a:moveTo>
                  <a:lnTo>
                    <a:pt x="11250549" y="0"/>
                  </a:lnTo>
                  <a:lnTo>
                    <a:pt x="11250549" y="1935861"/>
                  </a:lnTo>
                  <a:lnTo>
                    <a:pt x="0" y="1935861"/>
                  </a:lnTo>
                  <a:close/>
                </a:path>
              </a:pathLst>
            </a:custGeom>
            <a:solidFill>
              <a:srgbClr val="EAF3FC"/>
            </a:solidFill>
            <a:ln w="25400" cap="sq">
              <a:solidFill>
                <a:srgbClr val="2962FF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9473184" y="5193792"/>
            <a:ext cx="640080" cy="1097280"/>
            <a:chOff x="0" y="0"/>
            <a:chExt cx="853440" cy="14630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534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9948" t="0" r="-169948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57150"/>
              <a:ext cx="85344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2962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0204704" y="5193792"/>
            <a:ext cx="7315200" cy="1133856"/>
            <a:chOff x="0" y="0"/>
            <a:chExt cx="9753600" cy="151180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753600" cy="1511808"/>
            </a:xfrm>
            <a:custGeom>
              <a:avLst/>
              <a:gdLst/>
              <a:ahLst/>
              <a:cxnLst/>
              <a:rect r="r" b="b" t="t" l="l"/>
              <a:pathLst>
                <a:path h="151180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709" r="0" b="-75709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9753600" cy="1549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Small/Mid Cap funds: VaR exceeds -2.5% daily — high return but significant tail risk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444503" y="6644135"/>
            <a:ext cx="8437883" cy="1451867"/>
            <a:chOff x="0" y="0"/>
            <a:chExt cx="11250511" cy="1935823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1250549" cy="1935861"/>
            </a:xfrm>
            <a:custGeom>
              <a:avLst/>
              <a:gdLst/>
              <a:ahLst/>
              <a:cxnLst/>
              <a:rect r="r" b="b" t="t" l="l"/>
              <a:pathLst>
                <a:path h="1935861" w="11250549">
                  <a:moveTo>
                    <a:pt x="0" y="0"/>
                  </a:moveTo>
                  <a:lnTo>
                    <a:pt x="11250549" y="0"/>
                  </a:lnTo>
                  <a:lnTo>
                    <a:pt x="11250549" y="1935861"/>
                  </a:lnTo>
                  <a:lnTo>
                    <a:pt x="0" y="1935861"/>
                  </a:lnTo>
                  <a:close/>
                </a:path>
              </a:pathLst>
            </a:custGeom>
            <a:solidFill>
              <a:srgbClr val="EAF3FC"/>
            </a:solidFill>
            <a:ln w="25400" cap="sq">
              <a:solidFill>
                <a:srgbClr val="0D3B66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603504" y="6803136"/>
            <a:ext cx="640080" cy="1097280"/>
            <a:chOff x="0" y="0"/>
            <a:chExt cx="853440" cy="14630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8534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9948" t="0" r="-169948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57150"/>
              <a:ext cx="85344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0D3B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335024" y="6803136"/>
            <a:ext cx="7315200" cy="1133856"/>
            <a:chOff x="0" y="0"/>
            <a:chExt cx="9753600" cy="151180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9753600" cy="1511808"/>
            </a:xfrm>
            <a:custGeom>
              <a:avLst/>
              <a:gdLst/>
              <a:ahLst/>
              <a:cxnLst/>
              <a:rect r="r" b="b" t="t" l="l"/>
              <a:pathLst>
                <a:path h="151180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709" r="0" b="-75709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9753600" cy="1549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26-35 age group dominates SIP participation — young professionals are primary adopters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9314183" y="6644135"/>
            <a:ext cx="8437883" cy="1451867"/>
            <a:chOff x="0" y="0"/>
            <a:chExt cx="11250511" cy="1935823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1250549" cy="1935861"/>
            </a:xfrm>
            <a:custGeom>
              <a:avLst/>
              <a:gdLst/>
              <a:ahLst/>
              <a:cxnLst/>
              <a:rect r="r" b="b" t="t" l="l"/>
              <a:pathLst>
                <a:path h="1935861" w="11250549">
                  <a:moveTo>
                    <a:pt x="0" y="0"/>
                  </a:moveTo>
                  <a:lnTo>
                    <a:pt x="11250549" y="0"/>
                  </a:lnTo>
                  <a:lnTo>
                    <a:pt x="11250549" y="1935861"/>
                  </a:lnTo>
                  <a:lnTo>
                    <a:pt x="0" y="1935861"/>
                  </a:lnTo>
                  <a:close/>
                </a:path>
              </a:pathLst>
            </a:custGeom>
            <a:solidFill>
              <a:srgbClr val="EAF3FC"/>
            </a:solidFill>
            <a:ln w="25400" cap="sq">
              <a:solidFill>
                <a:srgbClr val="1565C0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9473184" y="6803136"/>
            <a:ext cx="640080" cy="1097280"/>
            <a:chOff x="0" y="0"/>
            <a:chExt cx="853440" cy="14630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534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9948" t="0" r="-169948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57150"/>
              <a:ext cx="85344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1565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0204704" y="6803136"/>
            <a:ext cx="7315200" cy="1133856"/>
            <a:chOff x="0" y="0"/>
            <a:chExt cx="9753600" cy="151180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753600" cy="1511808"/>
            </a:xfrm>
            <a:custGeom>
              <a:avLst/>
              <a:gdLst/>
              <a:ahLst/>
              <a:cxnLst/>
              <a:rect r="r" b="b" t="t" l="l"/>
              <a:pathLst>
                <a:path h="151180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709" r="0" b="-75709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9753600" cy="1549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B30 cities contribute only 22% of SIP volume — massive untapped geographic potential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444503" y="8253479"/>
            <a:ext cx="8437883" cy="1451867"/>
            <a:chOff x="0" y="0"/>
            <a:chExt cx="11250511" cy="1935823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1250549" cy="1935861"/>
            </a:xfrm>
            <a:custGeom>
              <a:avLst/>
              <a:gdLst/>
              <a:ahLst/>
              <a:cxnLst/>
              <a:rect r="r" b="b" t="t" l="l"/>
              <a:pathLst>
                <a:path h="1935861" w="11250549">
                  <a:moveTo>
                    <a:pt x="0" y="0"/>
                  </a:moveTo>
                  <a:lnTo>
                    <a:pt x="11250549" y="0"/>
                  </a:lnTo>
                  <a:lnTo>
                    <a:pt x="11250549" y="1935861"/>
                  </a:lnTo>
                  <a:lnTo>
                    <a:pt x="0" y="1935861"/>
                  </a:lnTo>
                  <a:close/>
                </a:path>
              </a:pathLst>
            </a:custGeom>
            <a:solidFill>
              <a:srgbClr val="EAF3FC"/>
            </a:solidFill>
            <a:ln w="25400" cap="sq">
              <a:solidFill>
                <a:srgbClr val="0D47A1"/>
              </a:solidFill>
              <a:prstDash val="solid"/>
              <a:miter/>
            </a:ln>
          </p:spPr>
        </p:sp>
      </p:grpSp>
      <p:grpSp>
        <p:nvGrpSpPr>
          <p:cNvPr name="Group 73" id="73"/>
          <p:cNvGrpSpPr/>
          <p:nvPr/>
        </p:nvGrpSpPr>
        <p:grpSpPr>
          <a:xfrm rot="0">
            <a:off x="603504" y="8412480"/>
            <a:ext cx="640080" cy="1097280"/>
            <a:chOff x="0" y="0"/>
            <a:chExt cx="853440" cy="146304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8534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9948" t="0" r="-169948" b="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57150"/>
              <a:ext cx="85344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0D47A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335024" y="8412480"/>
            <a:ext cx="7315200" cy="1133856"/>
            <a:chOff x="0" y="0"/>
            <a:chExt cx="9753600" cy="1511808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9753600" cy="1511808"/>
            </a:xfrm>
            <a:custGeom>
              <a:avLst/>
              <a:gdLst/>
              <a:ahLst/>
              <a:cxnLst/>
              <a:rect r="r" b="b" t="t" l="l"/>
              <a:pathLst>
                <a:path h="151180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709" r="0" b="-75709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9753600" cy="1549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2023 bull run: Sharpe ratios crossed 2.0 for Large Cap — exceptional risk-adjusted returns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9314183" y="8253479"/>
            <a:ext cx="8437883" cy="1451867"/>
            <a:chOff x="0" y="0"/>
            <a:chExt cx="11250511" cy="1935823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1250549" cy="1935861"/>
            </a:xfrm>
            <a:custGeom>
              <a:avLst/>
              <a:gdLst/>
              <a:ahLst/>
              <a:cxnLst/>
              <a:rect r="r" b="b" t="t" l="l"/>
              <a:pathLst>
                <a:path h="1935861" w="11250549">
                  <a:moveTo>
                    <a:pt x="0" y="0"/>
                  </a:moveTo>
                  <a:lnTo>
                    <a:pt x="11250549" y="0"/>
                  </a:lnTo>
                  <a:lnTo>
                    <a:pt x="11250549" y="1935861"/>
                  </a:lnTo>
                  <a:lnTo>
                    <a:pt x="0" y="1935861"/>
                  </a:lnTo>
                  <a:close/>
                </a:path>
              </a:pathLst>
            </a:custGeom>
            <a:solidFill>
              <a:srgbClr val="EAF3FC"/>
            </a:solidFill>
            <a:ln w="25400" cap="sq">
              <a:solidFill>
                <a:srgbClr val="1976D2"/>
              </a:solidFill>
              <a:prstDash val="solid"/>
              <a:miter/>
            </a:ln>
          </p:spPr>
        </p:sp>
      </p:grpSp>
      <p:grpSp>
        <p:nvGrpSpPr>
          <p:cNvPr name="Group 81" id="81"/>
          <p:cNvGrpSpPr/>
          <p:nvPr/>
        </p:nvGrpSpPr>
        <p:grpSpPr>
          <a:xfrm rot="0">
            <a:off x="9473184" y="8412480"/>
            <a:ext cx="640080" cy="1097280"/>
            <a:chOff x="0" y="0"/>
            <a:chExt cx="853440" cy="146304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8534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9948" t="0" r="-169948" b="0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57150"/>
              <a:ext cx="85344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1976D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0204704" y="8412480"/>
            <a:ext cx="7315200" cy="1133856"/>
            <a:chOff x="0" y="0"/>
            <a:chExt cx="9753600" cy="1511808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9753600" cy="1511808"/>
            </a:xfrm>
            <a:custGeom>
              <a:avLst/>
              <a:gdLst/>
              <a:ahLst/>
              <a:cxnLst/>
              <a:rect r="r" b="b" t="t" l="l"/>
              <a:pathLst>
                <a:path h="151180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709" r="0" b="-75709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9753600" cy="1549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C5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Banking sector at ~28% portfolio allocation — concentrated sector bet across equity funds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3B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46304" cy="10287000"/>
            <a:chOff x="0" y="0"/>
            <a:chExt cx="195072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507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2A5F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8141696" y="0"/>
            <a:ext cx="146304" cy="10287000"/>
            <a:chOff x="0" y="0"/>
            <a:chExt cx="195072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507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2A5F5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828800" y="1463040"/>
            <a:ext cx="14630400" cy="1828800"/>
            <a:chOff x="0" y="0"/>
            <a:chExt cx="19507200" cy="2438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5072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09550"/>
              <a:ext cx="19507200" cy="2647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480"/>
                </a:lnSpc>
              </a:pPr>
              <a:r>
                <a:rPr lang="en-US" sz="10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Thank You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572000" y="3474720"/>
            <a:ext cx="9144000" cy="73152"/>
            <a:chOff x="0" y="0"/>
            <a:chExt cx="12192000" cy="9753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192000" cy="97536"/>
            </a:xfrm>
            <a:custGeom>
              <a:avLst/>
              <a:gdLst/>
              <a:ahLst/>
              <a:cxnLst/>
              <a:rect r="r" b="b" t="t" l="l"/>
              <a:pathLst>
                <a:path h="97536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42A5F5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828800" y="3840480"/>
            <a:ext cx="14630400" cy="914400"/>
            <a:chOff x="0" y="0"/>
            <a:chExt cx="19507200" cy="1219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507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76200"/>
              <a:ext cx="1950720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>
                  <a:solidFill>
                    <a:srgbClr val="42A5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Bluestock Mutual Fund Analytics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828800" y="4846320"/>
            <a:ext cx="14630400" cy="731520"/>
            <a:chOff x="0" y="0"/>
            <a:chExt cx="19507200" cy="9753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507200" cy="975360"/>
            </a:xfrm>
            <a:custGeom>
              <a:avLst/>
              <a:gdLst/>
              <a:ahLst/>
              <a:cxnLst/>
              <a:rect r="r" b="b" t="t" l="l"/>
              <a:pathLst>
                <a:path h="97536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950720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i="true">
                  <a:solidFill>
                    <a:srgbClr val="DCE9F7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End-to-End Data Analytics Project | Summer Internship 2025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828800" y="8412480"/>
            <a:ext cx="14630400" cy="1280160"/>
            <a:chOff x="0" y="0"/>
            <a:chExt cx="19507200" cy="17068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5072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507200" cy="1744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i="true">
                  <a:solidFill>
                    <a:srgbClr val="A9C3D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This project was built as part of the Bluestock Fintech internship program covering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 i="true">
                  <a:solidFill>
                    <a:srgbClr val="A9C3D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data engineering, analytics, visualization and advanced risk modelling.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DAHPX88swxk</dc:identifier>
  <dcterms:modified xsi:type="dcterms:W3CDTF">2011-08-01T06:04:30Z</dcterms:modified>
  <cp:revision>1</cp:revision>
  <dc:title>Presentation.pptx</dc:title>
</cp:coreProperties>
</file>